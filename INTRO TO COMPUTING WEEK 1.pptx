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1" r:id="rId5"/>
    <p:sldId id="264" r:id="rId6"/>
    <p:sldId id="262" r:id="rId7"/>
    <p:sldId id="263" r:id="rId8"/>
    <p:sldId id="259" r:id="rId9"/>
    <p:sldId id="265" r:id="rId10"/>
    <p:sldId id="266"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386F8-2E1A-4CA1-ACD4-56781225A90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E348E6C-9208-4D5F-9FF9-1335C97149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7A6B80D-10F4-4FFF-9DAE-7312FBDFAF84}"/>
              </a:ext>
            </a:extLst>
          </p:cNvPr>
          <p:cNvSpPr>
            <a:spLocks noGrp="1"/>
          </p:cNvSpPr>
          <p:nvPr>
            <p:ph type="dt" sz="half" idx="10"/>
          </p:nvPr>
        </p:nvSpPr>
        <p:spPr/>
        <p:txBody>
          <a:bodyPr/>
          <a:lstStyle/>
          <a:p>
            <a:fld id="{EC2CD419-7F79-4FDA-9363-36FC04BE1C0C}" type="datetimeFigureOut">
              <a:rPr lang="en-US" smtClean="0"/>
              <a:t>6/17/2026</a:t>
            </a:fld>
            <a:endParaRPr lang="en-US"/>
          </a:p>
        </p:txBody>
      </p:sp>
      <p:sp>
        <p:nvSpPr>
          <p:cNvPr id="5" name="Footer Placeholder 4">
            <a:extLst>
              <a:ext uri="{FF2B5EF4-FFF2-40B4-BE49-F238E27FC236}">
                <a16:creationId xmlns:a16="http://schemas.microsoft.com/office/drawing/2014/main" id="{9741FCCF-EE8D-4C5E-B166-1BC57187D4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7209D9-534F-4C13-9981-E5F37F735AEF}"/>
              </a:ext>
            </a:extLst>
          </p:cNvPr>
          <p:cNvSpPr>
            <a:spLocks noGrp="1"/>
          </p:cNvSpPr>
          <p:nvPr>
            <p:ph type="sldNum" sz="quarter" idx="12"/>
          </p:nvPr>
        </p:nvSpPr>
        <p:spPr/>
        <p:txBody>
          <a:bodyPr/>
          <a:lstStyle/>
          <a:p>
            <a:fld id="{8487ECAC-7F48-4434-87E0-685BE2647330}" type="slidenum">
              <a:rPr lang="en-US" smtClean="0"/>
              <a:t>‹#›</a:t>
            </a:fld>
            <a:endParaRPr lang="en-US"/>
          </a:p>
        </p:txBody>
      </p:sp>
    </p:spTree>
    <p:extLst>
      <p:ext uri="{BB962C8B-B14F-4D97-AF65-F5344CB8AC3E}">
        <p14:creationId xmlns:p14="http://schemas.microsoft.com/office/powerpoint/2010/main" val="36147908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46769-A5CD-4616-9928-191F83F61D7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FC0C8C5-CE5C-460D-8630-E287C09BFBE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F198E5-FECE-4AE6-BD2B-533DE0E362E8}"/>
              </a:ext>
            </a:extLst>
          </p:cNvPr>
          <p:cNvSpPr>
            <a:spLocks noGrp="1"/>
          </p:cNvSpPr>
          <p:nvPr>
            <p:ph type="dt" sz="half" idx="10"/>
          </p:nvPr>
        </p:nvSpPr>
        <p:spPr/>
        <p:txBody>
          <a:bodyPr/>
          <a:lstStyle/>
          <a:p>
            <a:fld id="{EC2CD419-7F79-4FDA-9363-36FC04BE1C0C}" type="datetimeFigureOut">
              <a:rPr lang="en-US" smtClean="0"/>
              <a:t>6/17/2026</a:t>
            </a:fld>
            <a:endParaRPr lang="en-US"/>
          </a:p>
        </p:txBody>
      </p:sp>
      <p:sp>
        <p:nvSpPr>
          <p:cNvPr id="5" name="Footer Placeholder 4">
            <a:extLst>
              <a:ext uri="{FF2B5EF4-FFF2-40B4-BE49-F238E27FC236}">
                <a16:creationId xmlns:a16="http://schemas.microsoft.com/office/drawing/2014/main" id="{B002A395-E99D-4DA7-AEE8-A93CA09DF1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333DC6-8301-413D-90BC-EB2C51E7025B}"/>
              </a:ext>
            </a:extLst>
          </p:cNvPr>
          <p:cNvSpPr>
            <a:spLocks noGrp="1"/>
          </p:cNvSpPr>
          <p:nvPr>
            <p:ph type="sldNum" sz="quarter" idx="12"/>
          </p:nvPr>
        </p:nvSpPr>
        <p:spPr/>
        <p:txBody>
          <a:bodyPr/>
          <a:lstStyle/>
          <a:p>
            <a:fld id="{8487ECAC-7F48-4434-87E0-685BE2647330}" type="slidenum">
              <a:rPr lang="en-US" smtClean="0"/>
              <a:t>‹#›</a:t>
            </a:fld>
            <a:endParaRPr lang="en-US"/>
          </a:p>
        </p:txBody>
      </p:sp>
    </p:spTree>
    <p:extLst>
      <p:ext uri="{BB962C8B-B14F-4D97-AF65-F5344CB8AC3E}">
        <p14:creationId xmlns:p14="http://schemas.microsoft.com/office/powerpoint/2010/main" val="27079301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53696-78DD-46DE-BE0F-3CAE800B69A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9B8BED1-CF0A-49FF-9621-C8BE75851AE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51AC7E-EC86-4E17-A624-614C0B6FF48A}"/>
              </a:ext>
            </a:extLst>
          </p:cNvPr>
          <p:cNvSpPr>
            <a:spLocks noGrp="1"/>
          </p:cNvSpPr>
          <p:nvPr>
            <p:ph type="dt" sz="half" idx="10"/>
          </p:nvPr>
        </p:nvSpPr>
        <p:spPr/>
        <p:txBody>
          <a:bodyPr/>
          <a:lstStyle/>
          <a:p>
            <a:fld id="{EC2CD419-7F79-4FDA-9363-36FC04BE1C0C}" type="datetimeFigureOut">
              <a:rPr lang="en-US" smtClean="0"/>
              <a:t>6/17/2026</a:t>
            </a:fld>
            <a:endParaRPr lang="en-US"/>
          </a:p>
        </p:txBody>
      </p:sp>
      <p:sp>
        <p:nvSpPr>
          <p:cNvPr id="5" name="Footer Placeholder 4">
            <a:extLst>
              <a:ext uri="{FF2B5EF4-FFF2-40B4-BE49-F238E27FC236}">
                <a16:creationId xmlns:a16="http://schemas.microsoft.com/office/drawing/2014/main" id="{187B86CA-0DFB-42EB-8203-57C6D5A503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414506-05F5-4066-A419-E04B739A1B0C}"/>
              </a:ext>
            </a:extLst>
          </p:cNvPr>
          <p:cNvSpPr>
            <a:spLocks noGrp="1"/>
          </p:cNvSpPr>
          <p:nvPr>
            <p:ph type="sldNum" sz="quarter" idx="12"/>
          </p:nvPr>
        </p:nvSpPr>
        <p:spPr/>
        <p:txBody>
          <a:bodyPr/>
          <a:lstStyle/>
          <a:p>
            <a:fld id="{8487ECAC-7F48-4434-87E0-685BE2647330}" type="slidenum">
              <a:rPr lang="en-US" smtClean="0"/>
              <a:t>‹#›</a:t>
            </a:fld>
            <a:endParaRPr lang="en-US"/>
          </a:p>
        </p:txBody>
      </p:sp>
    </p:spTree>
    <p:extLst>
      <p:ext uri="{BB962C8B-B14F-4D97-AF65-F5344CB8AC3E}">
        <p14:creationId xmlns:p14="http://schemas.microsoft.com/office/powerpoint/2010/main" val="1257195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DFE24-2561-42A9-A351-73691C70D4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C68289E-7DC5-4F4F-9C2A-B65299012CF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B369C01-F2A6-4988-A6A5-B4275FAB05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3C57469-8392-4A97-99BA-0BB9DD517462}"/>
              </a:ext>
            </a:extLst>
          </p:cNvPr>
          <p:cNvSpPr>
            <a:spLocks noGrp="1"/>
          </p:cNvSpPr>
          <p:nvPr>
            <p:ph type="dt" sz="half" idx="10"/>
          </p:nvPr>
        </p:nvSpPr>
        <p:spPr/>
        <p:txBody>
          <a:bodyPr/>
          <a:lstStyle/>
          <a:p>
            <a:fld id="{EC2CD419-7F79-4FDA-9363-36FC04BE1C0C}" type="datetimeFigureOut">
              <a:rPr lang="en-US" smtClean="0"/>
              <a:t>6/17/2026</a:t>
            </a:fld>
            <a:endParaRPr lang="en-US"/>
          </a:p>
        </p:txBody>
      </p:sp>
      <p:sp>
        <p:nvSpPr>
          <p:cNvPr id="6" name="Footer Placeholder 5">
            <a:extLst>
              <a:ext uri="{FF2B5EF4-FFF2-40B4-BE49-F238E27FC236}">
                <a16:creationId xmlns:a16="http://schemas.microsoft.com/office/drawing/2014/main" id="{74C25ED1-8F6F-4B4A-9240-ACF368DA0D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07787A-29D8-43E4-8132-48C6AABDE36D}"/>
              </a:ext>
            </a:extLst>
          </p:cNvPr>
          <p:cNvSpPr>
            <a:spLocks noGrp="1"/>
          </p:cNvSpPr>
          <p:nvPr>
            <p:ph type="sldNum" sz="quarter" idx="12"/>
          </p:nvPr>
        </p:nvSpPr>
        <p:spPr/>
        <p:txBody>
          <a:bodyPr/>
          <a:lstStyle/>
          <a:p>
            <a:fld id="{8487ECAC-7F48-4434-87E0-685BE2647330}" type="slidenum">
              <a:rPr lang="en-US" smtClean="0"/>
              <a:t>‹#›</a:t>
            </a:fld>
            <a:endParaRPr lang="en-US"/>
          </a:p>
        </p:txBody>
      </p:sp>
    </p:spTree>
    <p:extLst>
      <p:ext uri="{BB962C8B-B14F-4D97-AF65-F5344CB8AC3E}">
        <p14:creationId xmlns:p14="http://schemas.microsoft.com/office/powerpoint/2010/main" val="11710693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E11E4-27C8-4BF6-B07A-77A364E5E24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329155E-915F-4142-911D-480EEEAD6D6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B8A6D8E-3A8C-48E9-9A97-E06ABD2DD01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A383AF8-D94F-41A6-9AED-95F559C144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CE1E4D-59D8-4837-B6D2-98170D3B99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FD8BDD9-7258-48F1-9DAA-07F1425935A9}"/>
              </a:ext>
            </a:extLst>
          </p:cNvPr>
          <p:cNvSpPr>
            <a:spLocks noGrp="1"/>
          </p:cNvSpPr>
          <p:nvPr>
            <p:ph type="dt" sz="half" idx="10"/>
          </p:nvPr>
        </p:nvSpPr>
        <p:spPr/>
        <p:txBody>
          <a:bodyPr/>
          <a:lstStyle/>
          <a:p>
            <a:fld id="{EC2CD419-7F79-4FDA-9363-36FC04BE1C0C}" type="datetimeFigureOut">
              <a:rPr lang="en-US" smtClean="0"/>
              <a:t>6/17/2026</a:t>
            </a:fld>
            <a:endParaRPr lang="en-US"/>
          </a:p>
        </p:txBody>
      </p:sp>
      <p:sp>
        <p:nvSpPr>
          <p:cNvPr id="8" name="Footer Placeholder 7">
            <a:extLst>
              <a:ext uri="{FF2B5EF4-FFF2-40B4-BE49-F238E27FC236}">
                <a16:creationId xmlns:a16="http://schemas.microsoft.com/office/drawing/2014/main" id="{5E482117-2387-4B81-B6A5-D68831041E9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CE21B1E-4ECB-4F53-BACD-F51F4FC6DB5C}"/>
              </a:ext>
            </a:extLst>
          </p:cNvPr>
          <p:cNvSpPr>
            <a:spLocks noGrp="1"/>
          </p:cNvSpPr>
          <p:nvPr>
            <p:ph type="sldNum" sz="quarter" idx="12"/>
          </p:nvPr>
        </p:nvSpPr>
        <p:spPr/>
        <p:txBody>
          <a:bodyPr/>
          <a:lstStyle/>
          <a:p>
            <a:fld id="{8487ECAC-7F48-4434-87E0-685BE2647330}" type="slidenum">
              <a:rPr lang="en-US" smtClean="0"/>
              <a:t>‹#›</a:t>
            </a:fld>
            <a:endParaRPr lang="en-US"/>
          </a:p>
        </p:txBody>
      </p:sp>
    </p:spTree>
    <p:extLst>
      <p:ext uri="{BB962C8B-B14F-4D97-AF65-F5344CB8AC3E}">
        <p14:creationId xmlns:p14="http://schemas.microsoft.com/office/powerpoint/2010/main" val="13101395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9220E-562B-4058-A3E6-C640778D6CA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6816F62-C1F1-44FC-B285-93E6C065AA65}"/>
              </a:ext>
            </a:extLst>
          </p:cNvPr>
          <p:cNvSpPr>
            <a:spLocks noGrp="1"/>
          </p:cNvSpPr>
          <p:nvPr>
            <p:ph type="dt" sz="half" idx="10"/>
          </p:nvPr>
        </p:nvSpPr>
        <p:spPr/>
        <p:txBody>
          <a:bodyPr/>
          <a:lstStyle/>
          <a:p>
            <a:fld id="{EC2CD419-7F79-4FDA-9363-36FC04BE1C0C}" type="datetimeFigureOut">
              <a:rPr lang="en-US" smtClean="0"/>
              <a:t>6/17/2026</a:t>
            </a:fld>
            <a:endParaRPr lang="en-US"/>
          </a:p>
        </p:txBody>
      </p:sp>
      <p:sp>
        <p:nvSpPr>
          <p:cNvPr id="4" name="Footer Placeholder 3">
            <a:extLst>
              <a:ext uri="{FF2B5EF4-FFF2-40B4-BE49-F238E27FC236}">
                <a16:creationId xmlns:a16="http://schemas.microsoft.com/office/drawing/2014/main" id="{3FF986D6-C102-416D-8E2A-D1EEE84D276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BA8B190-9DCC-424F-9BAE-9B5E7C6FB3B4}"/>
              </a:ext>
            </a:extLst>
          </p:cNvPr>
          <p:cNvSpPr>
            <a:spLocks noGrp="1"/>
          </p:cNvSpPr>
          <p:nvPr>
            <p:ph type="sldNum" sz="quarter" idx="12"/>
          </p:nvPr>
        </p:nvSpPr>
        <p:spPr/>
        <p:txBody>
          <a:bodyPr/>
          <a:lstStyle/>
          <a:p>
            <a:fld id="{8487ECAC-7F48-4434-87E0-685BE2647330}" type="slidenum">
              <a:rPr lang="en-US" smtClean="0"/>
              <a:t>‹#›</a:t>
            </a:fld>
            <a:endParaRPr lang="en-US"/>
          </a:p>
        </p:txBody>
      </p:sp>
    </p:spTree>
    <p:extLst>
      <p:ext uri="{BB962C8B-B14F-4D97-AF65-F5344CB8AC3E}">
        <p14:creationId xmlns:p14="http://schemas.microsoft.com/office/powerpoint/2010/main" val="1917686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DFA6CA1-4D35-4F5D-8A3B-10DBD940C3E5}"/>
              </a:ext>
            </a:extLst>
          </p:cNvPr>
          <p:cNvSpPr>
            <a:spLocks noGrp="1"/>
          </p:cNvSpPr>
          <p:nvPr>
            <p:ph type="dt" sz="half" idx="10"/>
          </p:nvPr>
        </p:nvSpPr>
        <p:spPr/>
        <p:txBody>
          <a:bodyPr/>
          <a:lstStyle/>
          <a:p>
            <a:fld id="{EC2CD419-7F79-4FDA-9363-36FC04BE1C0C}" type="datetimeFigureOut">
              <a:rPr lang="en-US" smtClean="0"/>
              <a:t>6/17/2026</a:t>
            </a:fld>
            <a:endParaRPr lang="en-US"/>
          </a:p>
        </p:txBody>
      </p:sp>
      <p:sp>
        <p:nvSpPr>
          <p:cNvPr id="3" name="Footer Placeholder 2">
            <a:extLst>
              <a:ext uri="{FF2B5EF4-FFF2-40B4-BE49-F238E27FC236}">
                <a16:creationId xmlns:a16="http://schemas.microsoft.com/office/drawing/2014/main" id="{43AD61B7-3896-46A7-91FE-FCFE1E4E1F3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74680CE-D15D-4A6B-9A2B-8EB75F1E3908}"/>
              </a:ext>
            </a:extLst>
          </p:cNvPr>
          <p:cNvSpPr>
            <a:spLocks noGrp="1"/>
          </p:cNvSpPr>
          <p:nvPr>
            <p:ph type="sldNum" sz="quarter" idx="12"/>
          </p:nvPr>
        </p:nvSpPr>
        <p:spPr/>
        <p:txBody>
          <a:bodyPr/>
          <a:lstStyle/>
          <a:p>
            <a:fld id="{8487ECAC-7F48-4434-87E0-685BE2647330}" type="slidenum">
              <a:rPr lang="en-US" smtClean="0"/>
              <a:t>‹#›</a:t>
            </a:fld>
            <a:endParaRPr lang="en-US"/>
          </a:p>
        </p:txBody>
      </p:sp>
    </p:spTree>
    <p:extLst>
      <p:ext uri="{BB962C8B-B14F-4D97-AF65-F5344CB8AC3E}">
        <p14:creationId xmlns:p14="http://schemas.microsoft.com/office/powerpoint/2010/main" val="17706123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502FE-EE35-4C5E-B64E-2E8CC2DB1F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DB29147-4BE4-451F-A36B-3D82E51312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B019C18-3E60-4781-9525-137A28299B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13CEEA-322D-4183-8CB5-619B17300FAF}"/>
              </a:ext>
            </a:extLst>
          </p:cNvPr>
          <p:cNvSpPr>
            <a:spLocks noGrp="1"/>
          </p:cNvSpPr>
          <p:nvPr>
            <p:ph type="dt" sz="half" idx="10"/>
          </p:nvPr>
        </p:nvSpPr>
        <p:spPr/>
        <p:txBody>
          <a:bodyPr/>
          <a:lstStyle/>
          <a:p>
            <a:fld id="{EC2CD419-7F79-4FDA-9363-36FC04BE1C0C}" type="datetimeFigureOut">
              <a:rPr lang="en-US" smtClean="0"/>
              <a:t>6/17/2026</a:t>
            </a:fld>
            <a:endParaRPr lang="en-US"/>
          </a:p>
        </p:txBody>
      </p:sp>
      <p:sp>
        <p:nvSpPr>
          <p:cNvPr id="6" name="Footer Placeholder 5">
            <a:extLst>
              <a:ext uri="{FF2B5EF4-FFF2-40B4-BE49-F238E27FC236}">
                <a16:creationId xmlns:a16="http://schemas.microsoft.com/office/drawing/2014/main" id="{66973A0D-645A-4822-A4C6-C068D9228A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CA71AE-6241-468B-81EB-4BADF8E81986}"/>
              </a:ext>
            </a:extLst>
          </p:cNvPr>
          <p:cNvSpPr>
            <a:spLocks noGrp="1"/>
          </p:cNvSpPr>
          <p:nvPr>
            <p:ph type="sldNum" sz="quarter" idx="12"/>
          </p:nvPr>
        </p:nvSpPr>
        <p:spPr/>
        <p:txBody>
          <a:bodyPr/>
          <a:lstStyle/>
          <a:p>
            <a:fld id="{8487ECAC-7F48-4434-87E0-685BE2647330}" type="slidenum">
              <a:rPr lang="en-US" smtClean="0"/>
              <a:t>‹#›</a:t>
            </a:fld>
            <a:endParaRPr lang="en-US"/>
          </a:p>
        </p:txBody>
      </p:sp>
    </p:spTree>
    <p:extLst>
      <p:ext uri="{BB962C8B-B14F-4D97-AF65-F5344CB8AC3E}">
        <p14:creationId xmlns:p14="http://schemas.microsoft.com/office/powerpoint/2010/main" val="38594980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37CE6-0F6D-4CD6-8828-2A5F3A7EED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3A90DF2-B1EF-4765-A190-7E04D8A3718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5DA5C57-9323-4F66-AD75-9CFA64C4B5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AD74D9-9DEA-4C4B-A409-D91F0348BBAD}"/>
              </a:ext>
            </a:extLst>
          </p:cNvPr>
          <p:cNvSpPr>
            <a:spLocks noGrp="1"/>
          </p:cNvSpPr>
          <p:nvPr>
            <p:ph type="dt" sz="half" idx="10"/>
          </p:nvPr>
        </p:nvSpPr>
        <p:spPr/>
        <p:txBody>
          <a:bodyPr/>
          <a:lstStyle/>
          <a:p>
            <a:fld id="{EC2CD419-7F79-4FDA-9363-36FC04BE1C0C}" type="datetimeFigureOut">
              <a:rPr lang="en-US" smtClean="0"/>
              <a:t>6/17/2026</a:t>
            </a:fld>
            <a:endParaRPr lang="en-US"/>
          </a:p>
        </p:txBody>
      </p:sp>
      <p:sp>
        <p:nvSpPr>
          <p:cNvPr id="6" name="Footer Placeholder 5">
            <a:extLst>
              <a:ext uri="{FF2B5EF4-FFF2-40B4-BE49-F238E27FC236}">
                <a16:creationId xmlns:a16="http://schemas.microsoft.com/office/drawing/2014/main" id="{6EEB49EF-3AEA-42F6-B6DB-15AB31A84A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BB1D39-3809-4E86-A57D-2006B9E6E6F6}"/>
              </a:ext>
            </a:extLst>
          </p:cNvPr>
          <p:cNvSpPr>
            <a:spLocks noGrp="1"/>
          </p:cNvSpPr>
          <p:nvPr>
            <p:ph type="sldNum" sz="quarter" idx="12"/>
          </p:nvPr>
        </p:nvSpPr>
        <p:spPr/>
        <p:txBody>
          <a:bodyPr/>
          <a:lstStyle/>
          <a:p>
            <a:fld id="{8487ECAC-7F48-4434-87E0-685BE2647330}" type="slidenum">
              <a:rPr lang="en-US" smtClean="0"/>
              <a:t>‹#›</a:t>
            </a:fld>
            <a:endParaRPr lang="en-US"/>
          </a:p>
        </p:txBody>
      </p:sp>
    </p:spTree>
    <p:extLst>
      <p:ext uri="{BB962C8B-B14F-4D97-AF65-F5344CB8AC3E}">
        <p14:creationId xmlns:p14="http://schemas.microsoft.com/office/powerpoint/2010/main" val="1697069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001EA-7F43-4A4E-A60B-4F4883A9449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1B36CA0-2C97-499B-9E7E-BCFCDBA810A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8CF12D-869C-4AE1-8F1D-8DDF90F549AB}"/>
              </a:ext>
            </a:extLst>
          </p:cNvPr>
          <p:cNvSpPr>
            <a:spLocks noGrp="1"/>
          </p:cNvSpPr>
          <p:nvPr>
            <p:ph type="dt" sz="half" idx="10"/>
          </p:nvPr>
        </p:nvSpPr>
        <p:spPr/>
        <p:txBody>
          <a:bodyPr/>
          <a:lstStyle/>
          <a:p>
            <a:fld id="{EC2CD419-7F79-4FDA-9363-36FC04BE1C0C}" type="datetimeFigureOut">
              <a:rPr lang="en-US" smtClean="0"/>
              <a:t>6/17/2026</a:t>
            </a:fld>
            <a:endParaRPr lang="en-US"/>
          </a:p>
        </p:txBody>
      </p:sp>
      <p:sp>
        <p:nvSpPr>
          <p:cNvPr id="5" name="Footer Placeholder 4">
            <a:extLst>
              <a:ext uri="{FF2B5EF4-FFF2-40B4-BE49-F238E27FC236}">
                <a16:creationId xmlns:a16="http://schemas.microsoft.com/office/drawing/2014/main" id="{303690D6-A74C-42C8-878E-AAE59C0E10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B55A6F-866B-4163-B73D-B9E5894A4AE4}"/>
              </a:ext>
            </a:extLst>
          </p:cNvPr>
          <p:cNvSpPr>
            <a:spLocks noGrp="1"/>
          </p:cNvSpPr>
          <p:nvPr>
            <p:ph type="sldNum" sz="quarter" idx="12"/>
          </p:nvPr>
        </p:nvSpPr>
        <p:spPr/>
        <p:txBody>
          <a:bodyPr/>
          <a:lstStyle/>
          <a:p>
            <a:fld id="{8487ECAC-7F48-4434-87E0-685BE2647330}" type="slidenum">
              <a:rPr lang="en-US" smtClean="0"/>
              <a:t>‹#›</a:t>
            </a:fld>
            <a:endParaRPr lang="en-US"/>
          </a:p>
        </p:txBody>
      </p:sp>
    </p:spTree>
    <p:extLst>
      <p:ext uri="{BB962C8B-B14F-4D97-AF65-F5344CB8AC3E}">
        <p14:creationId xmlns:p14="http://schemas.microsoft.com/office/powerpoint/2010/main" val="30906380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CA199E-0EE2-42BE-B83E-A8D1EA45A24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F6D76B6-0274-4345-8D4D-A9480720A95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DDC215-B907-478E-8246-064AAD7E9544}"/>
              </a:ext>
            </a:extLst>
          </p:cNvPr>
          <p:cNvSpPr>
            <a:spLocks noGrp="1"/>
          </p:cNvSpPr>
          <p:nvPr>
            <p:ph type="dt" sz="half" idx="10"/>
          </p:nvPr>
        </p:nvSpPr>
        <p:spPr/>
        <p:txBody>
          <a:bodyPr/>
          <a:lstStyle/>
          <a:p>
            <a:fld id="{EC2CD419-7F79-4FDA-9363-36FC04BE1C0C}" type="datetimeFigureOut">
              <a:rPr lang="en-US" smtClean="0"/>
              <a:t>6/17/2026</a:t>
            </a:fld>
            <a:endParaRPr lang="en-US"/>
          </a:p>
        </p:txBody>
      </p:sp>
      <p:sp>
        <p:nvSpPr>
          <p:cNvPr id="5" name="Footer Placeholder 4">
            <a:extLst>
              <a:ext uri="{FF2B5EF4-FFF2-40B4-BE49-F238E27FC236}">
                <a16:creationId xmlns:a16="http://schemas.microsoft.com/office/drawing/2014/main" id="{91EDDE01-5742-46C4-8CB1-4C987D62B2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7530D1-14FB-4AED-8F74-4AE71DA7314B}"/>
              </a:ext>
            </a:extLst>
          </p:cNvPr>
          <p:cNvSpPr>
            <a:spLocks noGrp="1"/>
          </p:cNvSpPr>
          <p:nvPr>
            <p:ph type="sldNum" sz="quarter" idx="12"/>
          </p:nvPr>
        </p:nvSpPr>
        <p:spPr/>
        <p:txBody>
          <a:bodyPr/>
          <a:lstStyle/>
          <a:p>
            <a:fld id="{8487ECAC-7F48-4434-87E0-685BE2647330}" type="slidenum">
              <a:rPr lang="en-US" smtClean="0"/>
              <a:t>‹#›</a:t>
            </a:fld>
            <a:endParaRPr lang="en-US"/>
          </a:p>
        </p:txBody>
      </p:sp>
    </p:spTree>
    <p:extLst>
      <p:ext uri="{BB962C8B-B14F-4D97-AF65-F5344CB8AC3E}">
        <p14:creationId xmlns:p14="http://schemas.microsoft.com/office/powerpoint/2010/main" val="17946154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A048C2-9BD2-4A25-B65F-FE202308B0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6DED2FB-03DE-4813-9CEF-6D014ABDDB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74EE2F-E5A4-46F3-849E-2D0204B294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2CD419-7F79-4FDA-9363-36FC04BE1C0C}" type="datetimeFigureOut">
              <a:rPr lang="en-US" smtClean="0"/>
              <a:t>6/17/2026</a:t>
            </a:fld>
            <a:endParaRPr lang="en-US"/>
          </a:p>
        </p:txBody>
      </p:sp>
      <p:sp>
        <p:nvSpPr>
          <p:cNvPr id="5" name="Footer Placeholder 4">
            <a:extLst>
              <a:ext uri="{FF2B5EF4-FFF2-40B4-BE49-F238E27FC236}">
                <a16:creationId xmlns:a16="http://schemas.microsoft.com/office/drawing/2014/main" id="{975872EB-0448-4E53-9921-CAE61F9DAAF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AFC6945-7F40-4651-99A4-6EC2EEA2C94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87ECAC-7F48-4434-87E0-685BE2647330}" type="slidenum">
              <a:rPr lang="en-US" smtClean="0"/>
              <a:t>‹#›</a:t>
            </a:fld>
            <a:endParaRPr lang="en-US"/>
          </a:p>
        </p:txBody>
      </p:sp>
    </p:spTree>
    <p:extLst>
      <p:ext uri="{BB962C8B-B14F-4D97-AF65-F5344CB8AC3E}">
        <p14:creationId xmlns:p14="http://schemas.microsoft.com/office/powerpoint/2010/main" val="14689267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9C9EE-755C-4FAD-88F6-FFE3367B026F}"/>
              </a:ext>
            </a:extLst>
          </p:cNvPr>
          <p:cNvSpPr>
            <a:spLocks noGrp="1"/>
          </p:cNvSpPr>
          <p:nvPr>
            <p:ph type="ctrTitle"/>
          </p:nvPr>
        </p:nvSpPr>
        <p:spPr/>
        <p:txBody>
          <a:bodyPr>
            <a:normAutofit/>
          </a:bodyPr>
          <a:lstStyle/>
          <a:p>
            <a:r>
              <a:rPr lang="en-US" sz="6600" b="1" dirty="0"/>
              <a:t>Introduction to Computing</a:t>
            </a:r>
          </a:p>
        </p:txBody>
      </p:sp>
      <p:sp>
        <p:nvSpPr>
          <p:cNvPr id="3" name="Subtitle 2">
            <a:extLst>
              <a:ext uri="{FF2B5EF4-FFF2-40B4-BE49-F238E27FC236}">
                <a16:creationId xmlns:a16="http://schemas.microsoft.com/office/drawing/2014/main" id="{0EBD3667-9516-4392-9D18-126DA0516B58}"/>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4776030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AA234-8ABF-45F0-9370-7E1D55A942BF}"/>
              </a:ext>
            </a:extLst>
          </p:cNvPr>
          <p:cNvSpPr>
            <a:spLocks noGrp="1"/>
          </p:cNvSpPr>
          <p:nvPr>
            <p:ph type="title"/>
          </p:nvPr>
        </p:nvSpPr>
        <p:spPr/>
        <p:txBody>
          <a:bodyPr>
            <a:normAutofit/>
          </a:bodyPr>
          <a:lstStyle/>
          <a:p>
            <a:r>
              <a:rPr lang="en-US" sz="6600" b="1" dirty="0"/>
              <a:t>Computing</a:t>
            </a:r>
          </a:p>
        </p:txBody>
      </p:sp>
      <p:sp>
        <p:nvSpPr>
          <p:cNvPr id="3" name="Content Placeholder 2">
            <a:extLst>
              <a:ext uri="{FF2B5EF4-FFF2-40B4-BE49-F238E27FC236}">
                <a16:creationId xmlns:a16="http://schemas.microsoft.com/office/drawing/2014/main" id="{B8234FB7-157E-4DE0-B705-C2E7BBD75158}"/>
              </a:ext>
            </a:extLst>
          </p:cNvPr>
          <p:cNvSpPr>
            <a:spLocks noGrp="1"/>
          </p:cNvSpPr>
          <p:nvPr>
            <p:ph idx="1"/>
          </p:nvPr>
        </p:nvSpPr>
        <p:spPr/>
        <p:txBody>
          <a:bodyPr>
            <a:normAutofit/>
          </a:bodyPr>
          <a:lstStyle/>
          <a:p>
            <a:pPr marL="0" indent="0">
              <a:buNone/>
            </a:pPr>
            <a:r>
              <a:rPr lang="en-US" sz="3200" dirty="0"/>
              <a:t>Computing is the study of how computers process information, solve problems, and support human activities.</a:t>
            </a:r>
          </a:p>
          <a:p>
            <a:pPr marL="0" indent="0">
              <a:buNone/>
            </a:pPr>
            <a:r>
              <a:rPr lang="en-US" sz="3200" b="1" dirty="0">
                <a:effectLst/>
              </a:rPr>
              <a:t>Core Elements:</a:t>
            </a:r>
            <a:endParaRPr lang="en-US" sz="3200" dirty="0"/>
          </a:p>
          <a:p>
            <a:pPr>
              <a:buFont typeface="Arial" panose="020B0604020202020204" pitchFamily="34" charset="0"/>
              <a:buChar char="•"/>
            </a:pPr>
            <a:r>
              <a:rPr lang="en-US" sz="3200" b="1" dirty="0">
                <a:effectLst/>
              </a:rPr>
              <a:t>Hardware</a:t>
            </a:r>
            <a:r>
              <a:rPr lang="en-US" sz="3200" dirty="0">
                <a:effectLst/>
              </a:rPr>
              <a:t> — physical components like CPU, memory, input/output devices.</a:t>
            </a:r>
            <a:endParaRPr lang="en-US" sz="3200" dirty="0"/>
          </a:p>
          <a:p>
            <a:pPr>
              <a:buFont typeface="Arial" panose="020B0604020202020204" pitchFamily="34" charset="0"/>
              <a:buChar char="•"/>
            </a:pPr>
            <a:r>
              <a:rPr lang="en-US" sz="3200" b="1" dirty="0">
                <a:effectLst/>
              </a:rPr>
              <a:t>Software</a:t>
            </a:r>
            <a:r>
              <a:rPr lang="en-US" sz="3200" dirty="0">
                <a:effectLst/>
              </a:rPr>
              <a:t> — instructions that tell hardware what to do.</a:t>
            </a:r>
            <a:endParaRPr lang="en-US" sz="3200" dirty="0"/>
          </a:p>
          <a:p>
            <a:pPr>
              <a:buFont typeface="Arial" panose="020B0604020202020204" pitchFamily="34" charset="0"/>
              <a:buChar char="•"/>
            </a:pPr>
            <a:r>
              <a:rPr lang="en-US" sz="3200" b="1" dirty="0">
                <a:effectLst/>
              </a:rPr>
              <a:t>Data &amp; Algorithms</a:t>
            </a:r>
            <a:r>
              <a:rPr lang="en-US" sz="3200" dirty="0">
                <a:effectLst/>
              </a:rPr>
              <a:t> — structured steps to solve problems.</a:t>
            </a:r>
            <a:endParaRPr lang="en-US" sz="3200" dirty="0"/>
          </a:p>
          <a:p>
            <a:endParaRPr lang="en-US" sz="3200" dirty="0"/>
          </a:p>
        </p:txBody>
      </p:sp>
    </p:spTree>
    <p:extLst>
      <p:ext uri="{BB962C8B-B14F-4D97-AF65-F5344CB8AC3E}">
        <p14:creationId xmlns:p14="http://schemas.microsoft.com/office/powerpoint/2010/main" val="26938804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0CAFC-B7BC-4D53-ABD0-679BDC2A0535}"/>
              </a:ext>
            </a:extLst>
          </p:cNvPr>
          <p:cNvSpPr>
            <a:spLocks noGrp="1"/>
          </p:cNvSpPr>
          <p:nvPr>
            <p:ph type="title"/>
          </p:nvPr>
        </p:nvSpPr>
        <p:spPr/>
        <p:txBody>
          <a:bodyPr>
            <a:normAutofit/>
          </a:bodyPr>
          <a:lstStyle/>
          <a:p>
            <a:r>
              <a:rPr lang="en-US" sz="6600" b="1" dirty="0"/>
              <a:t>History of Computers</a:t>
            </a:r>
          </a:p>
        </p:txBody>
      </p:sp>
      <p:sp>
        <p:nvSpPr>
          <p:cNvPr id="3" name="Content Placeholder 2">
            <a:extLst>
              <a:ext uri="{FF2B5EF4-FFF2-40B4-BE49-F238E27FC236}">
                <a16:creationId xmlns:a16="http://schemas.microsoft.com/office/drawing/2014/main" id="{2C2A3299-0A70-4A96-BAE6-559E57AB6543}"/>
              </a:ext>
            </a:extLst>
          </p:cNvPr>
          <p:cNvSpPr>
            <a:spLocks noGrp="1"/>
          </p:cNvSpPr>
          <p:nvPr>
            <p:ph idx="1"/>
          </p:nvPr>
        </p:nvSpPr>
        <p:spPr/>
        <p:txBody>
          <a:bodyPr>
            <a:normAutofit/>
          </a:bodyPr>
          <a:lstStyle/>
          <a:p>
            <a:pPr marL="0" indent="0">
              <a:buNone/>
            </a:pPr>
            <a:r>
              <a:rPr lang="en-US" sz="4000" b="1" dirty="0"/>
              <a:t>Early Devices</a:t>
            </a:r>
          </a:p>
          <a:p>
            <a:pPr>
              <a:buFont typeface="Arial" panose="020B0604020202020204" pitchFamily="34" charset="0"/>
              <a:buChar char="•"/>
            </a:pPr>
            <a:r>
              <a:rPr lang="en-US" sz="4000" b="1" dirty="0">
                <a:effectLst/>
              </a:rPr>
              <a:t>Abacus</a:t>
            </a:r>
            <a:r>
              <a:rPr lang="en-US" sz="4000" dirty="0">
                <a:effectLst/>
              </a:rPr>
              <a:t> (3000 BC) — first arithmetic tool.</a:t>
            </a:r>
            <a:endParaRPr lang="en-US" sz="4000" dirty="0"/>
          </a:p>
          <a:p>
            <a:pPr>
              <a:buFont typeface="Arial" panose="020B0604020202020204" pitchFamily="34" charset="0"/>
              <a:buChar char="•"/>
            </a:pPr>
            <a:r>
              <a:rPr lang="en-US" sz="4000" b="1" dirty="0">
                <a:effectLst/>
              </a:rPr>
              <a:t>Pascaline</a:t>
            </a:r>
            <a:r>
              <a:rPr lang="en-US" sz="4000" dirty="0">
                <a:effectLst/>
              </a:rPr>
              <a:t> (1642) — mechanical calculator by Blaise Pascal.</a:t>
            </a:r>
            <a:endParaRPr lang="en-US" sz="4000" dirty="0"/>
          </a:p>
          <a:p>
            <a:pPr>
              <a:buFont typeface="Arial" panose="020B0604020202020204" pitchFamily="34" charset="0"/>
              <a:buChar char="•"/>
            </a:pPr>
            <a:r>
              <a:rPr lang="en-US" sz="4000" b="1" dirty="0">
                <a:effectLst/>
              </a:rPr>
              <a:t>Analytical Engine</a:t>
            </a:r>
            <a:r>
              <a:rPr lang="en-US" sz="4000" dirty="0">
                <a:effectLst/>
              </a:rPr>
              <a:t> (1837) — Charles Babbage’s design, with Ada Lovelace writing the first algorithm.</a:t>
            </a:r>
            <a:endParaRPr lang="en-US" sz="4000" dirty="0"/>
          </a:p>
          <a:p>
            <a:endParaRPr lang="en-US" sz="4000" dirty="0"/>
          </a:p>
        </p:txBody>
      </p:sp>
    </p:spTree>
    <p:extLst>
      <p:ext uri="{BB962C8B-B14F-4D97-AF65-F5344CB8AC3E}">
        <p14:creationId xmlns:p14="http://schemas.microsoft.com/office/powerpoint/2010/main" val="14366694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20BE2-B4C3-418D-8E64-5DDE8A0AD292}"/>
              </a:ext>
            </a:extLst>
          </p:cNvPr>
          <p:cNvSpPr>
            <a:spLocks noGrp="1"/>
          </p:cNvSpPr>
          <p:nvPr>
            <p:ph type="title"/>
          </p:nvPr>
        </p:nvSpPr>
        <p:spPr/>
        <p:txBody>
          <a:bodyPr>
            <a:noAutofit/>
          </a:bodyPr>
          <a:lstStyle/>
          <a:p>
            <a:br>
              <a:rPr lang="en-US" sz="4800" b="1" dirty="0">
                <a:effectLst/>
              </a:rPr>
            </a:br>
            <a:r>
              <a:rPr lang="en-US" sz="4800" b="1" dirty="0">
                <a:effectLst/>
              </a:rPr>
              <a:t>Abacus</a:t>
            </a:r>
            <a:r>
              <a:rPr lang="en-US" sz="4800" dirty="0">
                <a:effectLst/>
              </a:rPr>
              <a:t> (3000 BC) — first arithmetic tool.</a:t>
            </a:r>
            <a:br>
              <a:rPr lang="en-US" sz="4800" dirty="0"/>
            </a:br>
            <a:endParaRPr lang="en-US" sz="4800" dirty="0"/>
          </a:p>
        </p:txBody>
      </p:sp>
      <p:pic>
        <p:nvPicPr>
          <p:cNvPr id="4" name="Content Placeholder 3">
            <a:extLst>
              <a:ext uri="{FF2B5EF4-FFF2-40B4-BE49-F238E27FC236}">
                <a16:creationId xmlns:a16="http://schemas.microsoft.com/office/drawing/2014/main" id="{F76F98FD-A914-44C8-A71C-23238DDC1B1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690688"/>
            <a:ext cx="12192000" cy="5167311"/>
          </a:xfrm>
          <a:prstGeom prst="rect">
            <a:avLst/>
          </a:prstGeom>
        </p:spPr>
      </p:pic>
    </p:spTree>
    <p:extLst>
      <p:ext uri="{BB962C8B-B14F-4D97-AF65-F5344CB8AC3E}">
        <p14:creationId xmlns:p14="http://schemas.microsoft.com/office/powerpoint/2010/main" val="2871891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C65A7-4611-49E8-A985-D209FFA37402}"/>
              </a:ext>
            </a:extLst>
          </p:cNvPr>
          <p:cNvSpPr>
            <a:spLocks noGrp="1"/>
          </p:cNvSpPr>
          <p:nvPr>
            <p:ph type="title"/>
          </p:nvPr>
        </p:nvSpPr>
        <p:spPr>
          <a:xfrm>
            <a:off x="198783" y="145775"/>
            <a:ext cx="11993217" cy="1544914"/>
          </a:xfrm>
        </p:spPr>
        <p:txBody>
          <a:bodyPr>
            <a:normAutofit fontScale="90000"/>
          </a:bodyPr>
          <a:lstStyle/>
          <a:p>
            <a:r>
              <a:rPr lang="en-US" sz="4400" b="1" dirty="0">
                <a:effectLst/>
              </a:rPr>
              <a:t>Pascaline</a:t>
            </a:r>
            <a:r>
              <a:rPr lang="en-US" sz="4400" dirty="0">
                <a:effectLst/>
              </a:rPr>
              <a:t> (1642) — mechanical calculator by Blaise Pascal.</a:t>
            </a:r>
            <a:br>
              <a:rPr lang="en-US" sz="4400" dirty="0"/>
            </a:br>
            <a:endParaRPr lang="en-US" dirty="0"/>
          </a:p>
        </p:txBody>
      </p:sp>
      <p:pic>
        <p:nvPicPr>
          <p:cNvPr id="5" name="Content Placeholder 4">
            <a:extLst>
              <a:ext uri="{FF2B5EF4-FFF2-40B4-BE49-F238E27FC236}">
                <a16:creationId xmlns:a16="http://schemas.microsoft.com/office/drawing/2014/main" id="{91950D23-70A4-498B-BC3D-F4CA6EA42A3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258957"/>
            <a:ext cx="12192000" cy="5599043"/>
          </a:xfrm>
        </p:spPr>
      </p:pic>
    </p:spTree>
    <p:extLst>
      <p:ext uri="{BB962C8B-B14F-4D97-AF65-F5344CB8AC3E}">
        <p14:creationId xmlns:p14="http://schemas.microsoft.com/office/powerpoint/2010/main" val="33984902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FC4A9-A097-42AA-9AB4-254EDD51C553}"/>
              </a:ext>
            </a:extLst>
          </p:cNvPr>
          <p:cNvSpPr>
            <a:spLocks noGrp="1"/>
          </p:cNvSpPr>
          <p:nvPr>
            <p:ph type="title"/>
          </p:nvPr>
        </p:nvSpPr>
        <p:spPr>
          <a:xfrm>
            <a:off x="838200" y="365125"/>
            <a:ext cx="10515600" cy="1847988"/>
          </a:xfrm>
        </p:spPr>
        <p:txBody>
          <a:bodyPr>
            <a:normAutofit fontScale="90000"/>
          </a:bodyPr>
          <a:lstStyle/>
          <a:p>
            <a:r>
              <a:rPr lang="en-US" sz="4400" b="1" dirty="0">
                <a:effectLst/>
              </a:rPr>
              <a:t>Analytical Engine</a:t>
            </a:r>
            <a:r>
              <a:rPr lang="en-US" sz="4400" dirty="0">
                <a:effectLst/>
              </a:rPr>
              <a:t> (1837) — Charles Babbage’s design, with Ada Lovelace writing the first algorithm.</a:t>
            </a:r>
            <a:br>
              <a:rPr lang="en-US" sz="4400" dirty="0"/>
            </a:br>
            <a:endParaRPr lang="en-US" dirty="0"/>
          </a:p>
        </p:txBody>
      </p:sp>
      <p:sp>
        <p:nvSpPr>
          <p:cNvPr id="3" name="Content Placeholder 2">
            <a:extLst>
              <a:ext uri="{FF2B5EF4-FFF2-40B4-BE49-F238E27FC236}">
                <a16:creationId xmlns:a16="http://schemas.microsoft.com/office/drawing/2014/main" id="{5DF8FE67-0E06-464E-BFA2-254F55D8EA7E}"/>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115DA722-8DED-4F01-BDC3-CC1B9AD3AED3}"/>
              </a:ext>
            </a:extLst>
          </p:cNvPr>
          <p:cNvPicPr>
            <a:picLocks noChangeAspect="1"/>
          </p:cNvPicPr>
          <p:nvPr/>
        </p:nvPicPr>
        <p:blipFill>
          <a:blip r:embed="rId2"/>
          <a:stretch>
            <a:fillRect/>
          </a:stretch>
        </p:blipFill>
        <p:spPr>
          <a:xfrm>
            <a:off x="0" y="1825625"/>
            <a:ext cx="12192000" cy="5015533"/>
          </a:xfrm>
          <a:prstGeom prst="rect">
            <a:avLst/>
          </a:prstGeom>
        </p:spPr>
      </p:pic>
    </p:spTree>
    <p:extLst>
      <p:ext uri="{BB962C8B-B14F-4D97-AF65-F5344CB8AC3E}">
        <p14:creationId xmlns:p14="http://schemas.microsoft.com/office/powerpoint/2010/main" val="29098269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DD21D-4188-495B-8C51-6E4A0F187BC6}"/>
              </a:ext>
            </a:extLst>
          </p:cNvPr>
          <p:cNvSpPr>
            <a:spLocks noGrp="1"/>
          </p:cNvSpPr>
          <p:nvPr>
            <p:ph type="title"/>
          </p:nvPr>
        </p:nvSpPr>
        <p:spPr/>
        <p:txBody>
          <a:bodyPr/>
          <a:lstStyle/>
          <a:p>
            <a:endParaRPr lang="en-US"/>
          </a:p>
        </p:txBody>
      </p:sp>
      <p:pic>
        <p:nvPicPr>
          <p:cNvPr id="4" name="Content Placeholder 4">
            <a:extLst>
              <a:ext uri="{FF2B5EF4-FFF2-40B4-BE49-F238E27FC236}">
                <a16:creationId xmlns:a16="http://schemas.microsoft.com/office/drawing/2014/main" id="{3E8045E9-41B4-4D88-A48B-BF846B0D9C38}"/>
              </a:ext>
            </a:extLst>
          </p:cNvPr>
          <p:cNvPicPr>
            <a:picLocks noGrp="1" noChangeAspect="1"/>
          </p:cNvPicPr>
          <p:nvPr>
            <p:ph idx="1"/>
          </p:nvPr>
        </p:nvPicPr>
        <p:blipFill>
          <a:blip r:embed="rId2"/>
          <a:stretch>
            <a:fillRect/>
          </a:stretch>
        </p:blipFill>
        <p:spPr>
          <a:xfrm>
            <a:off x="0" y="0"/>
            <a:ext cx="12192000" cy="6771694"/>
          </a:xfrm>
        </p:spPr>
      </p:pic>
    </p:spTree>
    <p:extLst>
      <p:ext uri="{BB962C8B-B14F-4D97-AF65-F5344CB8AC3E}">
        <p14:creationId xmlns:p14="http://schemas.microsoft.com/office/powerpoint/2010/main" val="11252269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DC3EF-7DF4-4989-BBB4-B95382811A8A}"/>
              </a:ext>
            </a:extLst>
          </p:cNvPr>
          <p:cNvSpPr>
            <a:spLocks noGrp="1"/>
          </p:cNvSpPr>
          <p:nvPr>
            <p:ph type="title"/>
          </p:nvPr>
        </p:nvSpPr>
        <p:spPr>
          <a:xfrm>
            <a:off x="838200" y="0"/>
            <a:ext cx="10515600" cy="1325563"/>
          </a:xfrm>
        </p:spPr>
        <p:txBody>
          <a:bodyPr>
            <a:normAutofit/>
          </a:bodyPr>
          <a:lstStyle/>
          <a:p>
            <a:r>
              <a:rPr lang="en-US" sz="6000" b="1" dirty="0"/>
              <a:t>Generations of Computers</a:t>
            </a:r>
          </a:p>
        </p:txBody>
      </p:sp>
      <p:graphicFrame>
        <p:nvGraphicFramePr>
          <p:cNvPr id="4" name="Content Placeholder 3">
            <a:extLst>
              <a:ext uri="{FF2B5EF4-FFF2-40B4-BE49-F238E27FC236}">
                <a16:creationId xmlns:a16="http://schemas.microsoft.com/office/drawing/2014/main" id="{8E0BCEC4-9E99-417E-B7EF-86B5997A34FB}"/>
              </a:ext>
            </a:extLst>
          </p:cNvPr>
          <p:cNvGraphicFramePr>
            <a:graphicFrameLocks noGrp="1"/>
          </p:cNvGraphicFramePr>
          <p:nvPr>
            <p:ph idx="1"/>
            <p:extLst>
              <p:ext uri="{D42A27DB-BD31-4B8C-83A1-F6EECF244321}">
                <p14:modId xmlns:p14="http://schemas.microsoft.com/office/powerpoint/2010/main" val="2102689367"/>
              </p:ext>
            </p:extLst>
          </p:nvPr>
        </p:nvGraphicFramePr>
        <p:xfrm>
          <a:off x="957470" y="1232797"/>
          <a:ext cx="10515600" cy="5332965"/>
        </p:xfrm>
        <a:graphic>
          <a:graphicData uri="http://schemas.openxmlformats.org/drawingml/2006/table">
            <a:tbl>
              <a:tblPr/>
              <a:tblGrid>
                <a:gridCol w="3505200">
                  <a:extLst>
                    <a:ext uri="{9D8B030D-6E8A-4147-A177-3AD203B41FA5}">
                      <a16:colId xmlns:a16="http://schemas.microsoft.com/office/drawing/2014/main" val="3722758122"/>
                    </a:ext>
                  </a:extLst>
                </a:gridCol>
                <a:gridCol w="2720008">
                  <a:extLst>
                    <a:ext uri="{9D8B030D-6E8A-4147-A177-3AD203B41FA5}">
                      <a16:colId xmlns:a16="http://schemas.microsoft.com/office/drawing/2014/main" val="3966676756"/>
                    </a:ext>
                  </a:extLst>
                </a:gridCol>
                <a:gridCol w="4290392">
                  <a:extLst>
                    <a:ext uri="{9D8B030D-6E8A-4147-A177-3AD203B41FA5}">
                      <a16:colId xmlns:a16="http://schemas.microsoft.com/office/drawing/2014/main" val="3467787872"/>
                    </a:ext>
                  </a:extLst>
                </a:gridCol>
              </a:tblGrid>
              <a:tr h="527095">
                <a:tc>
                  <a:txBody>
                    <a:bodyPr/>
                    <a:lstStyle/>
                    <a:p>
                      <a:r>
                        <a:rPr lang="en-US" sz="2800" b="1" dirty="0"/>
                        <a:t>Generation</a:t>
                      </a:r>
                      <a:endParaRPr lang="en-US" sz="2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b="1"/>
                        <a:t>Years</a:t>
                      </a:r>
                      <a:endParaRPr lang="en-US" sz="2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b="1"/>
                        <a:t>Key Features</a:t>
                      </a:r>
                      <a:endParaRPr lang="en-US" sz="2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9447350"/>
                  </a:ext>
                </a:extLst>
              </a:tr>
              <a:tr h="961174">
                <a:tc>
                  <a:txBody>
                    <a:bodyPr/>
                    <a:lstStyle/>
                    <a:p>
                      <a:r>
                        <a:rPr lang="en-US" sz="2800" b="1"/>
                        <a:t>First</a:t>
                      </a:r>
                      <a:endParaRPr lang="en-US" sz="2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a:t>1940s–1950s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dirty="0"/>
                        <a:t>Vacuum tubes, large, costly, unreliable.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4506869"/>
                  </a:ext>
                </a:extLst>
              </a:tr>
              <a:tr h="961174">
                <a:tc>
                  <a:txBody>
                    <a:bodyPr/>
                    <a:lstStyle/>
                    <a:p>
                      <a:r>
                        <a:rPr lang="en-US" sz="2800" b="1"/>
                        <a:t>Second</a:t>
                      </a:r>
                      <a:endParaRPr lang="en-US" sz="2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a:t>1956–1963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dirty="0"/>
                        <a:t>Transistors, faster, birth of FORTRAN &amp; COBOL.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313554"/>
                  </a:ext>
                </a:extLst>
              </a:tr>
              <a:tr h="961174">
                <a:tc>
                  <a:txBody>
                    <a:bodyPr/>
                    <a:lstStyle/>
                    <a:p>
                      <a:r>
                        <a:rPr lang="en-US" sz="2800" b="1"/>
                        <a:t>Third</a:t>
                      </a:r>
                      <a:endParaRPr lang="en-US" sz="2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dirty="0"/>
                        <a:t>1964–1971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a:t>Integrated circuits, smaller, more reliable.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9175066"/>
                  </a:ext>
                </a:extLst>
              </a:tr>
              <a:tr h="961174">
                <a:tc>
                  <a:txBody>
                    <a:bodyPr/>
                    <a:lstStyle/>
                    <a:p>
                      <a:r>
                        <a:rPr lang="en-US" sz="2800" b="1"/>
                        <a:t>Fourth</a:t>
                      </a:r>
                      <a:endParaRPr lang="en-US" sz="2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a:t>1971–1980s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dirty="0"/>
                        <a:t>Microprocessors, personal computers emerge.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6251051"/>
                  </a:ext>
                </a:extLst>
              </a:tr>
              <a:tr h="961174">
                <a:tc>
                  <a:txBody>
                    <a:bodyPr/>
                    <a:lstStyle/>
                    <a:p>
                      <a:r>
                        <a:rPr lang="en-US" sz="2800" b="1"/>
                        <a:t>Fifth</a:t>
                      </a:r>
                      <a:endParaRPr lang="en-US" sz="2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dirty="0"/>
                        <a:t>1980s–present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dirty="0"/>
                        <a:t>AI, cloud computing, parallel systems.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4825366"/>
                  </a:ext>
                </a:extLst>
              </a:tr>
            </a:tbl>
          </a:graphicData>
        </a:graphic>
      </p:graphicFrame>
    </p:spTree>
    <p:extLst>
      <p:ext uri="{BB962C8B-B14F-4D97-AF65-F5344CB8AC3E}">
        <p14:creationId xmlns:p14="http://schemas.microsoft.com/office/powerpoint/2010/main" val="41100267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872FC-2475-48ED-8415-C28931589A64}"/>
              </a:ext>
            </a:extLst>
          </p:cNvPr>
          <p:cNvSpPr>
            <a:spLocks noGrp="1"/>
          </p:cNvSpPr>
          <p:nvPr>
            <p:ph type="title"/>
          </p:nvPr>
        </p:nvSpPr>
        <p:spPr>
          <a:xfrm>
            <a:off x="1338469" y="2509664"/>
            <a:ext cx="9515061" cy="1174441"/>
          </a:xfrm>
        </p:spPr>
        <p:txBody>
          <a:bodyPr>
            <a:noAutofit/>
          </a:bodyPr>
          <a:lstStyle/>
          <a:p>
            <a:pPr algn="ctr"/>
            <a:r>
              <a:rPr lang="en-US" sz="6600" b="1" dirty="0"/>
              <a:t>The Software Development Profession</a:t>
            </a:r>
          </a:p>
        </p:txBody>
      </p:sp>
    </p:spTree>
    <p:extLst>
      <p:ext uri="{BB962C8B-B14F-4D97-AF65-F5344CB8AC3E}">
        <p14:creationId xmlns:p14="http://schemas.microsoft.com/office/powerpoint/2010/main" val="22648161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BC3D4-710E-4FF9-BFDB-72061F42C445}"/>
              </a:ext>
            </a:extLst>
          </p:cNvPr>
          <p:cNvSpPr>
            <a:spLocks noGrp="1"/>
          </p:cNvSpPr>
          <p:nvPr>
            <p:ph type="title"/>
          </p:nvPr>
        </p:nvSpPr>
        <p:spPr/>
        <p:txBody>
          <a:bodyPr>
            <a:normAutofit/>
          </a:bodyPr>
          <a:lstStyle/>
          <a:p>
            <a:r>
              <a:rPr lang="en-US" sz="6000" b="1" dirty="0"/>
              <a:t>What Developers Do?</a:t>
            </a:r>
          </a:p>
        </p:txBody>
      </p:sp>
      <p:sp>
        <p:nvSpPr>
          <p:cNvPr id="3" name="Content Placeholder 2">
            <a:extLst>
              <a:ext uri="{FF2B5EF4-FFF2-40B4-BE49-F238E27FC236}">
                <a16:creationId xmlns:a16="http://schemas.microsoft.com/office/drawing/2014/main" id="{83150BD3-62F6-41CF-8909-A50A0EE8967C}"/>
              </a:ext>
            </a:extLst>
          </p:cNvPr>
          <p:cNvSpPr>
            <a:spLocks noGrp="1"/>
          </p:cNvSpPr>
          <p:nvPr>
            <p:ph idx="1"/>
          </p:nvPr>
        </p:nvSpPr>
        <p:spPr/>
        <p:txBody>
          <a:bodyPr>
            <a:noAutofit/>
          </a:bodyPr>
          <a:lstStyle/>
          <a:p>
            <a:r>
              <a:rPr lang="en-US" sz="3600" b="1" dirty="0"/>
              <a:t>Design &amp; Build Applications:</a:t>
            </a:r>
            <a:r>
              <a:rPr lang="en-US" sz="3600" dirty="0"/>
              <a:t> Mobile apps, enterprise systems, websites.</a:t>
            </a:r>
          </a:p>
          <a:p>
            <a:r>
              <a:rPr lang="en-US" sz="3600" b="1" dirty="0"/>
              <a:t>Problem-Solving:</a:t>
            </a:r>
            <a:r>
              <a:rPr lang="en-US" sz="3600" dirty="0"/>
              <a:t> Translate real-world needs into algorithms and code.</a:t>
            </a:r>
          </a:p>
          <a:p>
            <a:r>
              <a:rPr lang="en-US" sz="3600" b="1" dirty="0"/>
              <a:t>Maintain &amp; Debug:</a:t>
            </a:r>
            <a:r>
              <a:rPr lang="en-US" sz="3600" dirty="0"/>
              <a:t> Ensure reliability and performance.</a:t>
            </a:r>
          </a:p>
          <a:p>
            <a:r>
              <a:rPr lang="en-US" sz="3600" b="1" dirty="0"/>
              <a:t>Collaborate:</a:t>
            </a:r>
            <a:r>
              <a:rPr lang="en-US" sz="3600" dirty="0"/>
              <a:t> Work in teams using Agile, Scrum, or DevOps.</a:t>
            </a:r>
          </a:p>
        </p:txBody>
      </p:sp>
    </p:spTree>
    <p:extLst>
      <p:ext uri="{BB962C8B-B14F-4D97-AF65-F5344CB8AC3E}">
        <p14:creationId xmlns:p14="http://schemas.microsoft.com/office/powerpoint/2010/main" val="10326226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16BB0-9F5E-4100-9814-3C9F87B903BD}"/>
              </a:ext>
            </a:extLst>
          </p:cNvPr>
          <p:cNvSpPr>
            <a:spLocks noGrp="1"/>
          </p:cNvSpPr>
          <p:nvPr>
            <p:ph type="title"/>
          </p:nvPr>
        </p:nvSpPr>
        <p:spPr/>
        <p:txBody>
          <a:bodyPr/>
          <a:lstStyle/>
          <a:p>
            <a:endParaRPr lang="en-US"/>
          </a:p>
        </p:txBody>
      </p:sp>
      <p:pic>
        <p:nvPicPr>
          <p:cNvPr id="13" name="Content Placeholder 12">
            <a:extLst>
              <a:ext uri="{FF2B5EF4-FFF2-40B4-BE49-F238E27FC236}">
                <a16:creationId xmlns:a16="http://schemas.microsoft.com/office/drawing/2014/main" id="{9437CC0F-646C-4204-A1B5-21199B0174D2}"/>
              </a:ext>
            </a:extLst>
          </p:cNvPr>
          <p:cNvPicPr>
            <a:picLocks noGrp="1" noChangeAspect="1"/>
          </p:cNvPicPr>
          <p:nvPr>
            <p:ph idx="1"/>
          </p:nvPr>
        </p:nvPicPr>
        <p:blipFill>
          <a:blip r:embed="rId2"/>
          <a:stretch>
            <a:fillRect/>
          </a:stretch>
        </p:blipFill>
        <p:spPr>
          <a:xfrm>
            <a:off x="838200" y="1"/>
            <a:ext cx="10515600" cy="6957390"/>
          </a:xfrm>
        </p:spPr>
      </p:pic>
    </p:spTree>
    <p:extLst>
      <p:ext uri="{BB962C8B-B14F-4D97-AF65-F5344CB8AC3E}">
        <p14:creationId xmlns:p14="http://schemas.microsoft.com/office/powerpoint/2010/main" val="29303516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A09C5-A215-4AAE-836F-E702706B6812}"/>
              </a:ext>
            </a:extLst>
          </p:cNvPr>
          <p:cNvSpPr>
            <a:spLocks noGrp="1"/>
          </p:cNvSpPr>
          <p:nvPr>
            <p:ph type="title"/>
          </p:nvPr>
        </p:nvSpPr>
        <p:spPr>
          <a:xfrm>
            <a:off x="838199" y="365125"/>
            <a:ext cx="10956235" cy="1325563"/>
          </a:xfrm>
        </p:spPr>
        <p:txBody>
          <a:bodyPr>
            <a:noAutofit/>
          </a:bodyPr>
          <a:lstStyle/>
          <a:p>
            <a:r>
              <a:rPr lang="en-US" sz="5400" b="1" dirty="0"/>
              <a:t>The 7 Stages of Software Product Development</a:t>
            </a:r>
          </a:p>
        </p:txBody>
      </p:sp>
      <p:sp>
        <p:nvSpPr>
          <p:cNvPr id="3" name="Content Placeholder 2">
            <a:extLst>
              <a:ext uri="{FF2B5EF4-FFF2-40B4-BE49-F238E27FC236}">
                <a16:creationId xmlns:a16="http://schemas.microsoft.com/office/drawing/2014/main" id="{4A207C0C-D835-495F-A9B0-6950DC94C155}"/>
              </a:ext>
            </a:extLst>
          </p:cNvPr>
          <p:cNvSpPr>
            <a:spLocks noGrp="1"/>
          </p:cNvSpPr>
          <p:nvPr>
            <p:ph idx="1"/>
          </p:nvPr>
        </p:nvSpPr>
        <p:spPr>
          <a:xfrm>
            <a:off x="838200" y="1961322"/>
            <a:ext cx="10515600" cy="4386469"/>
          </a:xfrm>
        </p:spPr>
        <p:txBody>
          <a:bodyPr>
            <a:normAutofit fontScale="92500" lnSpcReduction="10000"/>
          </a:bodyPr>
          <a:lstStyle/>
          <a:p>
            <a:pPr marL="742950" indent="-742950">
              <a:buAutoNum type="arabicPeriod"/>
            </a:pPr>
            <a:r>
              <a:rPr lang="en-US" sz="4400" b="1" dirty="0"/>
              <a:t>Planning</a:t>
            </a:r>
          </a:p>
          <a:p>
            <a:pPr marL="0" indent="0">
              <a:buNone/>
            </a:pPr>
            <a:endParaRPr lang="en-US" sz="4400" b="1" dirty="0"/>
          </a:p>
          <a:p>
            <a:pPr>
              <a:buFont typeface="Arial" panose="020B0604020202020204" pitchFamily="34" charset="0"/>
              <a:buChar char="•"/>
            </a:pPr>
            <a:r>
              <a:rPr lang="en-US" sz="4400" dirty="0">
                <a:effectLst/>
              </a:rPr>
              <a:t>Define the purpose of the software.</a:t>
            </a:r>
            <a:endParaRPr lang="en-US" sz="4400" dirty="0"/>
          </a:p>
          <a:p>
            <a:pPr>
              <a:buFont typeface="Arial" panose="020B0604020202020204" pitchFamily="34" charset="0"/>
              <a:buChar char="•"/>
            </a:pPr>
            <a:r>
              <a:rPr lang="en-US" sz="4400" dirty="0">
                <a:effectLst/>
              </a:rPr>
              <a:t>Identify stakeholders, goals, and constraints.</a:t>
            </a:r>
            <a:endParaRPr lang="en-US" sz="4400" dirty="0"/>
          </a:p>
          <a:p>
            <a:pPr marL="0" indent="0">
              <a:buNone/>
            </a:pPr>
            <a:endParaRPr lang="en-US" sz="4400" dirty="0">
              <a:effectLst/>
            </a:endParaRPr>
          </a:p>
          <a:p>
            <a:pPr marL="0" indent="0">
              <a:buNone/>
            </a:pPr>
            <a:r>
              <a:rPr lang="en-US" sz="4400" dirty="0">
                <a:effectLst/>
              </a:rPr>
              <a:t>Example: Planning a mobile banking app to improve customer transactions.</a:t>
            </a:r>
            <a:endParaRPr lang="en-US" sz="4400" dirty="0"/>
          </a:p>
          <a:p>
            <a:endParaRPr lang="en-US" dirty="0"/>
          </a:p>
        </p:txBody>
      </p:sp>
    </p:spTree>
    <p:extLst>
      <p:ext uri="{BB962C8B-B14F-4D97-AF65-F5344CB8AC3E}">
        <p14:creationId xmlns:p14="http://schemas.microsoft.com/office/powerpoint/2010/main" val="27531524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133E1A-BFF4-4D83-9C36-F7723706C67E}"/>
              </a:ext>
            </a:extLst>
          </p:cNvPr>
          <p:cNvSpPr>
            <a:spLocks noGrp="1"/>
          </p:cNvSpPr>
          <p:nvPr>
            <p:ph idx="1"/>
          </p:nvPr>
        </p:nvSpPr>
        <p:spPr>
          <a:xfrm>
            <a:off x="838200" y="132522"/>
            <a:ext cx="10515600" cy="6970643"/>
          </a:xfrm>
        </p:spPr>
        <p:txBody>
          <a:bodyPr>
            <a:normAutofit lnSpcReduction="10000"/>
          </a:bodyPr>
          <a:lstStyle/>
          <a:p>
            <a:pPr marL="0" indent="0">
              <a:buNone/>
            </a:pPr>
            <a:r>
              <a:rPr lang="en-US" b="1" dirty="0"/>
              <a:t>2. Requirement Analysis</a:t>
            </a:r>
          </a:p>
          <a:p>
            <a:pPr>
              <a:buFont typeface="Arial" panose="020B0604020202020204" pitchFamily="34" charset="0"/>
              <a:buChar char="•"/>
            </a:pPr>
            <a:r>
              <a:rPr lang="en-US" dirty="0">
                <a:effectLst/>
              </a:rPr>
              <a:t>Gather </a:t>
            </a:r>
            <a:r>
              <a:rPr lang="en-US" b="1" dirty="0">
                <a:effectLst/>
              </a:rPr>
              <a:t>functiona</a:t>
            </a:r>
            <a:r>
              <a:rPr lang="en-US" dirty="0">
                <a:effectLst/>
              </a:rPr>
              <a:t>l and </a:t>
            </a:r>
            <a:r>
              <a:rPr lang="en-US" b="1" dirty="0">
                <a:effectLst/>
              </a:rPr>
              <a:t>non-functional</a:t>
            </a:r>
            <a:r>
              <a:rPr lang="en-US" dirty="0">
                <a:effectLst/>
              </a:rPr>
              <a:t> requirements.</a:t>
            </a:r>
            <a:endParaRPr lang="en-US" dirty="0"/>
          </a:p>
          <a:p>
            <a:pPr>
              <a:buFont typeface="Arial" panose="020B0604020202020204" pitchFamily="34" charset="0"/>
              <a:buChar char="•"/>
            </a:pPr>
            <a:r>
              <a:rPr lang="en-US" dirty="0">
                <a:effectLst/>
              </a:rPr>
              <a:t>Techniques: interviews, surveys, use cases.</a:t>
            </a:r>
            <a:endParaRPr lang="en-US" dirty="0"/>
          </a:p>
          <a:p>
            <a:pPr>
              <a:buFont typeface="Arial" panose="020B0604020202020204" pitchFamily="34" charset="0"/>
              <a:buChar char="•"/>
            </a:pPr>
            <a:r>
              <a:rPr lang="en-US" dirty="0">
                <a:effectLst/>
              </a:rPr>
              <a:t>Example: Users need secure login, balance checking, and fund transfer features.</a:t>
            </a:r>
          </a:p>
          <a:p>
            <a:pPr marL="0" indent="0">
              <a:buNone/>
            </a:pPr>
            <a:r>
              <a:rPr lang="en-US" b="1" dirty="0"/>
              <a:t>Functional requirements - </a:t>
            </a:r>
            <a:r>
              <a:rPr lang="en-US" dirty="0"/>
              <a:t>Specific features or functions the system must perform. “</a:t>
            </a:r>
            <a:r>
              <a:rPr lang="en-US" i="1" dirty="0"/>
              <a:t>What</a:t>
            </a:r>
            <a:r>
              <a:rPr lang="en-US" dirty="0"/>
              <a:t> the system should do”.</a:t>
            </a:r>
            <a:endParaRPr lang="en-US" b="1" dirty="0"/>
          </a:p>
          <a:p>
            <a:pPr marL="0" indent="0">
              <a:buNone/>
            </a:pPr>
            <a:r>
              <a:rPr lang="en-US" b="1" dirty="0"/>
              <a:t>Non- Functional Requirements - </a:t>
            </a:r>
            <a:r>
              <a:rPr lang="en-US" dirty="0"/>
              <a:t>Constraints or qualities that describe </a:t>
            </a:r>
            <a:r>
              <a:rPr lang="en-US" i="1" dirty="0"/>
              <a:t>how</a:t>
            </a:r>
            <a:r>
              <a:rPr lang="en-US" dirty="0"/>
              <a:t> the system performs its functions. attributes like performance, usability, reliability, and security.</a:t>
            </a:r>
          </a:p>
          <a:p>
            <a:pPr marL="0" indent="0">
              <a:buNone/>
            </a:pPr>
            <a:r>
              <a:rPr lang="en-US" dirty="0">
                <a:effectLst/>
              </a:rPr>
              <a:t>Examples:</a:t>
            </a:r>
            <a:endParaRPr lang="en-US" dirty="0"/>
          </a:p>
          <a:p>
            <a:pPr>
              <a:buFont typeface="Arial" panose="020B0604020202020204" pitchFamily="34" charset="0"/>
              <a:buChar char="•"/>
            </a:pPr>
            <a:r>
              <a:rPr lang="en-US" b="1" dirty="0">
                <a:effectLst/>
              </a:rPr>
              <a:t>Performance</a:t>
            </a:r>
            <a:r>
              <a:rPr lang="en-US" dirty="0">
                <a:effectLst/>
              </a:rPr>
              <a:t> — The website must load within 2 seconds under normal traffic.</a:t>
            </a:r>
            <a:endParaRPr lang="en-US" dirty="0"/>
          </a:p>
          <a:p>
            <a:pPr>
              <a:buFont typeface="Arial" panose="020B0604020202020204" pitchFamily="34" charset="0"/>
              <a:buChar char="•"/>
            </a:pPr>
            <a:r>
              <a:rPr lang="en-US" b="1" dirty="0">
                <a:effectLst/>
              </a:rPr>
              <a:t>Security</a:t>
            </a:r>
            <a:r>
              <a:rPr lang="en-US" dirty="0">
                <a:effectLst/>
              </a:rPr>
              <a:t> — All user data must be encrypted using AES-256.</a:t>
            </a:r>
            <a:endParaRPr lang="en-US" dirty="0"/>
          </a:p>
          <a:p>
            <a:pPr>
              <a:buFont typeface="Arial" panose="020B0604020202020204" pitchFamily="34" charset="0"/>
              <a:buChar char="•"/>
            </a:pPr>
            <a:r>
              <a:rPr lang="en-US" b="1" dirty="0">
                <a:effectLst/>
              </a:rPr>
              <a:t>Usability</a:t>
            </a:r>
            <a:r>
              <a:rPr lang="en-US" dirty="0">
                <a:effectLst/>
              </a:rPr>
              <a:t> — The mobile app must be intuitive enough for new users to complete a transaction within 3 steps.</a:t>
            </a:r>
            <a:endParaRPr lang="en-US" dirty="0"/>
          </a:p>
          <a:p>
            <a:pPr marL="0" indent="0">
              <a:buNone/>
            </a:pPr>
            <a:endParaRPr lang="en-US" b="1" dirty="0"/>
          </a:p>
          <a:p>
            <a:pPr marL="0" indent="0">
              <a:buNone/>
            </a:pPr>
            <a:endParaRPr lang="en-US" dirty="0"/>
          </a:p>
        </p:txBody>
      </p:sp>
    </p:spTree>
    <p:extLst>
      <p:ext uri="{BB962C8B-B14F-4D97-AF65-F5344CB8AC3E}">
        <p14:creationId xmlns:p14="http://schemas.microsoft.com/office/powerpoint/2010/main" val="6651143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E94F58-D473-4298-AB94-87D2809A2149}"/>
              </a:ext>
            </a:extLst>
          </p:cNvPr>
          <p:cNvSpPr>
            <a:spLocks noGrp="1"/>
          </p:cNvSpPr>
          <p:nvPr>
            <p:ph idx="1"/>
          </p:nvPr>
        </p:nvSpPr>
        <p:spPr>
          <a:xfrm>
            <a:off x="838200" y="357808"/>
            <a:ext cx="10515600" cy="6361043"/>
          </a:xfrm>
        </p:spPr>
        <p:txBody>
          <a:bodyPr>
            <a:normAutofit/>
          </a:bodyPr>
          <a:lstStyle/>
          <a:p>
            <a:pPr marL="0" indent="0">
              <a:buNone/>
            </a:pPr>
            <a:r>
              <a:rPr lang="en-US" sz="3200" b="1" dirty="0"/>
              <a:t>3. Product Design</a:t>
            </a:r>
          </a:p>
          <a:p>
            <a:pPr>
              <a:buFont typeface="Arial" panose="020B0604020202020204" pitchFamily="34" charset="0"/>
              <a:buChar char="•"/>
            </a:pPr>
            <a:r>
              <a:rPr lang="en-US" sz="3200" dirty="0">
                <a:effectLst/>
              </a:rPr>
              <a:t>Create system architecture, database schema, and UI/UX mockups.</a:t>
            </a:r>
            <a:endParaRPr lang="en-US" sz="3200" dirty="0"/>
          </a:p>
          <a:p>
            <a:pPr>
              <a:buFont typeface="Arial" panose="020B0604020202020204" pitchFamily="34" charset="0"/>
              <a:buChar char="•"/>
            </a:pPr>
            <a:r>
              <a:rPr lang="en-US" sz="3200" dirty="0">
                <a:effectLst/>
              </a:rPr>
              <a:t>High-level design (modules, components) and low-level design (algorithms, data structures).</a:t>
            </a:r>
            <a:endParaRPr lang="en-US" sz="3200" dirty="0"/>
          </a:p>
          <a:p>
            <a:pPr>
              <a:buFont typeface="Arial" panose="020B0604020202020204" pitchFamily="34" charset="0"/>
              <a:buChar char="•"/>
            </a:pPr>
            <a:r>
              <a:rPr lang="en-US" sz="3200" dirty="0">
                <a:effectLst/>
              </a:rPr>
              <a:t>Example: Designing a clean dashboard for the banking app.</a:t>
            </a:r>
            <a:endParaRPr lang="en-US" sz="3200" dirty="0"/>
          </a:p>
          <a:p>
            <a:pPr marL="0" indent="0">
              <a:buNone/>
            </a:pPr>
            <a:r>
              <a:rPr lang="en-US" sz="3200" b="1" dirty="0"/>
              <a:t>4. Product Development</a:t>
            </a:r>
          </a:p>
          <a:p>
            <a:pPr>
              <a:buFont typeface="Arial" panose="020B0604020202020204" pitchFamily="34" charset="0"/>
              <a:buChar char="•"/>
            </a:pPr>
            <a:r>
              <a:rPr lang="en-US" sz="3200" dirty="0">
                <a:effectLst/>
              </a:rPr>
              <a:t>Actual coding using programming languages (Python, Java, C++, etc.).</a:t>
            </a:r>
            <a:endParaRPr lang="en-US" sz="3200" dirty="0"/>
          </a:p>
          <a:p>
            <a:pPr>
              <a:buFont typeface="Arial" panose="020B0604020202020204" pitchFamily="34" charset="0"/>
              <a:buChar char="•"/>
            </a:pPr>
            <a:r>
              <a:rPr lang="en-US" sz="3200" dirty="0">
                <a:effectLst/>
              </a:rPr>
              <a:t>Follow coding standards and use version control (Git).</a:t>
            </a:r>
            <a:endParaRPr lang="en-US" sz="3200" dirty="0"/>
          </a:p>
          <a:p>
            <a:pPr>
              <a:buFont typeface="Arial" panose="020B0604020202020204" pitchFamily="34" charset="0"/>
              <a:buChar char="•"/>
            </a:pPr>
            <a:r>
              <a:rPr lang="en-US" sz="3200" dirty="0">
                <a:effectLst/>
              </a:rPr>
              <a:t>Example: Implementing login authentication with encryption.</a:t>
            </a:r>
            <a:endParaRPr lang="en-US" sz="3200" dirty="0"/>
          </a:p>
          <a:p>
            <a:pPr marL="0" indent="0">
              <a:buNone/>
            </a:pPr>
            <a:endParaRPr lang="en-US" dirty="0"/>
          </a:p>
        </p:txBody>
      </p:sp>
    </p:spTree>
    <p:extLst>
      <p:ext uri="{BB962C8B-B14F-4D97-AF65-F5344CB8AC3E}">
        <p14:creationId xmlns:p14="http://schemas.microsoft.com/office/powerpoint/2010/main" val="17921102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54F7C9-7062-4ED3-B0E9-8181810A4D06}"/>
              </a:ext>
            </a:extLst>
          </p:cNvPr>
          <p:cNvSpPr>
            <a:spLocks noGrp="1"/>
          </p:cNvSpPr>
          <p:nvPr>
            <p:ph idx="1"/>
          </p:nvPr>
        </p:nvSpPr>
        <p:spPr>
          <a:xfrm>
            <a:off x="838200" y="238539"/>
            <a:ext cx="10515600" cy="5938424"/>
          </a:xfrm>
        </p:spPr>
        <p:txBody>
          <a:bodyPr/>
          <a:lstStyle/>
          <a:p>
            <a:pPr marL="0" indent="0">
              <a:buNone/>
            </a:pPr>
            <a:r>
              <a:rPr lang="en-US" sz="3200" b="1" dirty="0"/>
              <a:t>5. Integration and Testing</a:t>
            </a:r>
          </a:p>
          <a:p>
            <a:pPr>
              <a:buFont typeface="Arial" panose="020B0604020202020204" pitchFamily="34" charset="0"/>
              <a:buChar char="•"/>
            </a:pPr>
            <a:r>
              <a:rPr lang="en-US" sz="3200" dirty="0">
                <a:effectLst/>
              </a:rPr>
              <a:t>Verify correctness, performance, and security.</a:t>
            </a:r>
            <a:endParaRPr lang="en-US" sz="3200" dirty="0"/>
          </a:p>
          <a:p>
            <a:pPr>
              <a:buFont typeface="Arial" panose="020B0604020202020204" pitchFamily="34" charset="0"/>
              <a:buChar char="•"/>
            </a:pPr>
            <a:r>
              <a:rPr lang="en-US" sz="3200" dirty="0">
                <a:effectLst/>
              </a:rPr>
              <a:t>Types: unit testing, integration testing, system testing, user acceptance testing.</a:t>
            </a:r>
            <a:endParaRPr lang="en-US" sz="3200" dirty="0"/>
          </a:p>
          <a:p>
            <a:pPr>
              <a:buFont typeface="Arial" panose="020B0604020202020204" pitchFamily="34" charset="0"/>
              <a:buChar char="•"/>
            </a:pPr>
            <a:r>
              <a:rPr lang="en-US" sz="3200" dirty="0">
                <a:effectLst/>
              </a:rPr>
              <a:t>Example: Testing fund transfer to ensure accuracy and security.</a:t>
            </a:r>
            <a:endParaRPr lang="en-US" sz="3200" dirty="0"/>
          </a:p>
          <a:p>
            <a:pPr marL="0" indent="0">
              <a:buNone/>
            </a:pPr>
            <a:r>
              <a:rPr lang="en-US" sz="3200" b="1" dirty="0"/>
              <a:t>6. Deployment</a:t>
            </a:r>
          </a:p>
          <a:p>
            <a:pPr>
              <a:buFont typeface="Arial" panose="020B0604020202020204" pitchFamily="34" charset="0"/>
              <a:buChar char="•"/>
            </a:pPr>
            <a:r>
              <a:rPr lang="en-US" sz="3200" dirty="0">
                <a:effectLst/>
              </a:rPr>
              <a:t>Release the product to users.</a:t>
            </a:r>
            <a:endParaRPr lang="en-US" sz="3200" dirty="0"/>
          </a:p>
          <a:p>
            <a:pPr>
              <a:buFont typeface="Arial" panose="020B0604020202020204" pitchFamily="34" charset="0"/>
              <a:buChar char="•"/>
            </a:pPr>
            <a:r>
              <a:rPr lang="en-US" sz="3200" dirty="0">
                <a:effectLst/>
              </a:rPr>
              <a:t>Can be phased (beta release) or full-scale launch.</a:t>
            </a:r>
            <a:endParaRPr lang="en-US" sz="3200" dirty="0"/>
          </a:p>
          <a:p>
            <a:pPr>
              <a:buFont typeface="Arial" panose="020B0604020202020204" pitchFamily="34" charset="0"/>
              <a:buChar char="•"/>
            </a:pPr>
            <a:r>
              <a:rPr lang="en-US" sz="3200" dirty="0">
                <a:effectLst/>
              </a:rPr>
              <a:t>Example: Deploying the banking app to Google Play and App Store.</a:t>
            </a:r>
            <a:endParaRPr lang="en-US" sz="3200" dirty="0"/>
          </a:p>
          <a:p>
            <a:pPr marL="0" indent="0">
              <a:buNone/>
            </a:pPr>
            <a:endParaRPr lang="en-US" dirty="0"/>
          </a:p>
        </p:txBody>
      </p:sp>
    </p:spTree>
    <p:extLst>
      <p:ext uri="{BB962C8B-B14F-4D97-AF65-F5344CB8AC3E}">
        <p14:creationId xmlns:p14="http://schemas.microsoft.com/office/powerpoint/2010/main" val="12916866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46331CB-F9FA-4335-BC59-516901C5F004}"/>
              </a:ext>
            </a:extLst>
          </p:cNvPr>
          <p:cNvSpPr>
            <a:spLocks noGrp="1"/>
          </p:cNvSpPr>
          <p:nvPr>
            <p:ph idx="1"/>
          </p:nvPr>
        </p:nvSpPr>
        <p:spPr>
          <a:xfrm>
            <a:off x="838200" y="265042"/>
            <a:ext cx="10515600" cy="6281531"/>
          </a:xfrm>
        </p:spPr>
        <p:txBody>
          <a:bodyPr/>
          <a:lstStyle/>
          <a:p>
            <a:pPr marL="0" indent="0">
              <a:buNone/>
            </a:pPr>
            <a:r>
              <a:rPr lang="en-US" b="1" dirty="0"/>
              <a:t>7. Maintenance</a:t>
            </a:r>
          </a:p>
          <a:p>
            <a:pPr>
              <a:buFont typeface="Arial" panose="020B0604020202020204" pitchFamily="34" charset="0"/>
              <a:buChar char="•"/>
            </a:pPr>
            <a:r>
              <a:rPr lang="en-US" dirty="0">
                <a:effectLst/>
              </a:rPr>
              <a:t>Fix bugs, update features, and adapt to new technologies.</a:t>
            </a:r>
            <a:endParaRPr lang="en-US" dirty="0"/>
          </a:p>
          <a:p>
            <a:pPr>
              <a:buFont typeface="Arial" panose="020B0604020202020204" pitchFamily="34" charset="0"/>
              <a:buChar char="•"/>
            </a:pPr>
            <a:r>
              <a:rPr lang="en-US" dirty="0">
                <a:effectLst/>
              </a:rPr>
              <a:t>Continuous improvement based on user feedback.</a:t>
            </a:r>
            <a:endParaRPr lang="en-US" dirty="0"/>
          </a:p>
          <a:p>
            <a:pPr>
              <a:buFont typeface="Arial" panose="020B0604020202020204" pitchFamily="34" charset="0"/>
              <a:buChar char="•"/>
            </a:pPr>
            <a:r>
              <a:rPr lang="en-US" dirty="0">
                <a:effectLst/>
              </a:rPr>
              <a:t>Example: Adding biometric login after initial release.</a:t>
            </a:r>
            <a:endParaRPr lang="en-US" dirty="0"/>
          </a:p>
          <a:p>
            <a:pPr marL="0" indent="0">
              <a:buNone/>
            </a:pPr>
            <a:endParaRPr lang="en-US" b="1" dirty="0"/>
          </a:p>
          <a:p>
            <a:pPr marL="0" indent="0">
              <a:buNone/>
            </a:pPr>
            <a:r>
              <a:rPr lang="en-US" b="1" i="1" dirty="0">
                <a:solidFill>
                  <a:srgbClr val="FF0000"/>
                </a:solidFill>
              </a:rPr>
              <a:t>References</a:t>
            </a:r>
          </a:p>
          <a:p>
            <a:pPr>
              <a:buFont typeface="Arial" panose="020B0604020202020204" pitchFamily="34" charset="0"/>
              <a:buChar char="•"/>
            </a:pPr>
            <a:r>
              <a:rPr lang="en-US" dirty="0">
                <a:effectLst/>
              </a:rPr>
              <a:t>Schneider, G. M., &amp; </a:t>
            </a:r>
            <a:r>
              <a:rPr lang="en-US" dirty="0" err="1">
                <a:effectLst/>
              </a:rPr>
              <a:t>Gersting</a:t>
            </a:r>
            <a:r>
              <a:rPr lang="en-US" dirty="0">
                <a:effectLst/>
              </a:rPr>
              <a:t>, J. L. (2022). </a:t>
            </a:r>
            <a:r>
              <a:rPr lang="en-US" i="1" dirty="0">
                <a:effectLst/>
              </a:rPr>
              <a:t>Invitation to Computer Science</a:t>
            </a:r>
            <a:r>
              <a:rPr lang="en-US" dirty="0">
                <a:effectLst/>
              </a:rPr>
              <a:t> (9th ed.). Cengage Learning.</a:t>
            </a:r>
            <a:endParaRPr lang="en-US" dirty="0"/>
          </a:p>
          <a:p>
            <a:pPr>
              <a:buFont typeface="Arial" panose="020B0604020202020204" pitchFamily="34" charset="0"/>
              <a:buChar char="•"/>
            </a:pPr>
            <a:r>
              <a:rPr lang="en-US" dirty="0">
                <a:effectLst/>
              </a:rPr>
              <a:t>Sommerville, I. (2016). </a:t>
            </a:r>
            <a:r>
              <a:rPr lang="en-US" i="1" dirty="0">
                <a:effectLst/>
              </a:rPr>
              <a:t>Software Engineering</a:t>
            </a:r>
            <a:r>
              <a:rPr lang="en-US" dirty="0">
                <a:effectLst/>
              </a:rPr>
              <a:t> (10th ed.). Pearson.</a:t>
            </a:r>
            <a:endParaRPr lang="en-US" dirty="0"/>
          </a:p>
          <a:p>
            <a:pPr>
              <a:buFont typeface="Arial" panose="020B0604020202020204" pitchFamily="34" charset="0"/>
              <a:buChar char="•"/>
            </a:pPr>
            <a:r>
              <a:rPr lang="en-US" dirty="0">
                <a:effectLst/>
              </a:rPr>
              <a:t>Pressman, R. S., &amp; Maxim, B. R. (2019). </a:t>
            </a:r>
            <a:r>
              <a:rPr lang="en-US" i="1" dirty="0">
                <a:effectLst/>
              </a:rPr>
              <a:t>Software Engineering: A Practitioner’s Approach</a:t>
            </a:r>
            <a:r>
              <a:rPr lang="en-US" dirty="0">
                <a:effectLst/>
              </a:rPr>
              <a:t> (9th ed.). McGraw-Hill.</a:t>
            </a:r>
            <a:endParaRPr lang="en-US" dirty="0"/>
          </a:p>
          <a:p>
            <a:pPr marL="0" indent="0">
              <a:buNone/>
            </a:pPr>
            <a:endParaRPr lang="en-US" dirty="0"/>
          </a:p>
        </p:txBody>
      </p:sp>
    </p:spTree>
    <p:extLst>
      <p:ext uri="{BB962C8B-B14F-4D97-AF65-F5344CB8AC3E}">
        <p14:creationId xmlns:p14="http://schemas.microsoft.com/office/powerpoint/2010/main" val="21599078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9A1B8-2507-4C30-8C61-364FEE73E43F}"/>
              </a:ext>
            </a:extLst>
          </p:cNvPr>
          <p:cNvSpPr>
            <a:spLocks noGrp="1"/>
          </p:cNvSpPr>
          <p:nvPr>
            <p:ph type="title"/>
          </p:nvPr>
        </p:nvSpPr>
        <p:spPr>
          <a:xfrm>
            <a:off x="838200" y="2511977"/>
            <a:ext cx="10240617" cy="1325563"/>
          </a:xfrm>
        </p:spPr>
        <p:txBody>
          <a:bodyPr>
            <a:noAutofit/>
          </a:bodyPr>
          <a:lstStyle/>
          <a:p>
            <a:r>
              <a:rPr lang="en-US" sz="6600" b="1" dirty="0"/>
              <a:t>IT Professions in Software Development Stages</a:t>
            </a:r>
          </a:p>
        </p:txBody>
      </p:sp>
    </p:spTree>
    <p:extLst>
      <p:ext uri="{BB962C8B-B14F-4D97-AF65-F5344CB8AC3E}">
        <p14:creationId xmlns:p14="http://schemas.microsoft.com/office/powerpoint/2010/main" val="2906461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000C09-651C-471A-9FD1-8E017385FF58}"/>
              </a:ext>
            </a:extLst>
          </p:cNvPr>
          <p:cNvSpPr>
            <a:spLocks noGrp="1"/>
          </p:cNvSpPr>
          <p:nvPr>
            <p:ph idx="1"/>
          </p:nvPr>
        </p:nvSpPr>
        <p:spPr>
          <a:xfrm>
            <a:off x="838200" y="304800"/>
            <a:ext cx="10515600" cy="6361043"/>
          </a:xfrm>
        </p:spPr>
        <p:txBody>
          <a:bodyPr>
            <a:normAutofit lnSpcReduction="10000"/>
          </a:bodyPr>
          <a:lstStyle/>
          <a:p>
            <a:pPr marL="0" indent="0">
              <a:buNone/>
            </a:pPr>
            <a:r>
              <a:rPr lang="en-US" sz="3200" b="1" dirty="0">
                <a:solidFill>
                  <a:srgbClr val="FF0000"/>
                </a:solidFill>
              </a:rPr>
              <a:t>1. Planning</a:t>
            </a:r>
          </a:p>
          <a:p>
            <a:pPr marL="0" indent="0">
              <a:buNone/>
            </a:pPr>
            <a:r>
              <a:rPr lang="en-US" sz="3200" b="1" dirty="0">
                <a:effectLst/>
              </a:rPr>
              <a:t>IT Professions: </a:t>
            </a:r>
            <a:r>
              <a:rPr lang="en-US" sz="2400" dirty="0"/>
              <a:t>₱70,000–₱150,000 (Project Managers up to ₱230,000–₱300,000)</a:t>
            </a:r>
          </a:p>
          <a:p>
            <a:pPr marL="742950" lvl="1" indent="-285750">
              <a:buFont typeface="Arial" panose="020B0604020202020204" pitchFamily="34" charset="0"/>
              <a:buChar char="•"/>
            </a:pPr>
            <a:r>
              <a:rPr lang="en-US" sz="3200" b="1" dirty="0">
                <a:effectLst/>
              </a:rPr>
              <a:t>Business Analyst</a:t>
            </a:r>
            <a:r>
              <a:rPr lang="en-US" sz="3200" dirty="0">
                <a:effectLst/>
              </a:rPr>
              <a:t> — identifies business needs and goals.</a:t>
            </a:r>
            <a:endParaRPr lang="en-US" sz="3200" dirty="0"/>
          </a:p>
          <a:p>
            <a:pPr marL="742950" lvl="1" indent="-285750">
              <a:buFont typeface="Arial" panose="020B0604020202020204" pitchFamily="34" charset="0"/>
              <a:buChar char="•"/>
            </a:pPr>
            <a:r>
              <a:rPr lang="en-US" sz="3200" b="1" dirty="0">
                <a:effectLst/>
              </a:rPr>
              <a:t>Project Manager</a:t>
            </a:r>
            <a:r>
              <a:rPr lang="en-US" sz="3200" dirty="0">
                <a:effectLst/>
              </a:rPr>
              <a:t> — oversees scope, timeline, and resources.</a:t>
            </a:r>
            <a:endParaRPr lang="en-US" sz="3200" dirty="0"/>
          </a:p>
          <a:p>
            <a:pPr marL="742950" lvl="1" indent="-285750">
              <a:buFont typeface="Arial" panose="020B0604020202020204" pitchFamily="34" charset="0"/>
              <a:buChar char="•"/>
            </a:pPr>
            <a:r>
              <a:rPr lang="en-US" sz="3200" b="1" dirty="0">
                <a:effectLst/>
              </a:rPr>
              <a:t>Product Owner</a:t>
            </a:r>
            <a:r>
              <a:rPr lang="en-US" sz="3200" dirty="0">
                <a:effectLst/>
              </a:rPr>
              <a:t> — represents stakeholders and defines priorities.</a:t>
            </a:r>
          </a:p>
          <a:p>
            <a:pPr marL="0" indent="0">
              <a:buNone/>
            </a:pPr>
            <a:r>
              <a:rPr lang="en-US" sz="3200" b="1" dirty="0">
                <a:solidFill>
                  <a:srgbClr val="FF0000"/>
                </a:solidFill>
              </a:rPr>
              <a:t>2. Requirement Analysis</a:t>
            </a:r>
          </a:p>
          <a:p>
            <a:pPr marL="0" indent="0">
              <a:buNone/>
            </a:pPr>
            <a:r>
              <a:rPr lang="en-US" sz="3200" b="1" dirty="0">
                <a:effectLst/>
              </a:rPr>
              <a:t>IT Professions: </a:t>
            </a:r>
            <a:r>
              <a:rPr lang="en-US" sz="2400" dirty="0"/>
              <a:t>₱50,000–₱120,000</a:t>
            </a:r>
          </a:p>
          <a:p>
            <a:pPr marL="742950" lvl="1" indent="-285750">
              <a:buFont typeface="Arial" panose="020B0604020202020204" pitchFamily="34" charset="0"/>
              <a:buChar char="•"/>
            </a:pPr>
            <a:r>
              <a:rPr lang="en-US" sz="3200" b="1" dirty="0">
                <a:effectLst/>
              </a:rPr>
              <a:t>Systems Analyst</a:t>
            </a:r>
            <a:r>
              <a:rPr lang="en-US" sz="3200" dirty="0">
                <a:effectLst/>
              </a:rPr>
              <a:t> — translates user needs into technical requirements.</a:t>
            </a:r>
            <a:endParaRPr lang="en-US" sz="3200" dirty="0"/>
          </a:p>
          <a:p>
            <a:pPr marL="742950" lvl="1" indent="-285750">
              <a:buFont typeface="Arial" panose="020B0604020202020204" pitchFamily="34" charset="0"/>
              <a:buChar char="•"/>
            </a:pPr>
            <a:r>
              <a:rPr lang="en-US" sz="3200" b="1" dirty="0">
                <a:effectLst/>
              </a:rPr>
              <a:t>Requirements Engineer</a:t>
            </a:r>
            <a:r>
              <a:rPr lang="en-US" sz="3200" dirty="0">
                <a:effectLst/>
              </a:rPr>
              <a:t> — documents functional and non-functional requirements.</a:t>
            </a:r>
            <a:endParaRPr lang="en-US" sz="3200" dirty="0"/>
          </a:p>
          <a:p>
            <a:pPr marL="457200" lvl="1" indent="0">
              <a:buNone/>
            </a:pPr>
            <a:endParaRPr lang="en-US" dirty="0"/>
          </a:p>
          <a:p>
            <a:pPr marL="0" indent="0">
              <a:buNone/>
            </a:pPr>
            <a:endParaRPr lang="en-US" dirty="0"/>
          </a:p>
        </p:txBody>
      </p:sp>
    </p:spTree>
    <p:extLst>
      <p:ext uri="{BB962C8B-B14F-4D97-AF65-F5344CB8AC3E}">
        <p14:creationId xmlns:p14="http://schemas.microsoft.com/office/powerpoint/2010/main" val="42222554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302B65-DF84-4C29-A218-C52DB70A54D4}"/>
              </a:ext>
            </a:extLst>
          </p:cNvPr>
          <p:cNvSpPr>
            <a:spLocks noGrp="1"/>
          </p:cNvSpPr>
          <p:nvPr>
            <p:ph idx="1"/>
          </p:nvPr>
        </p:nvSpPr>
        <p:spPr>
          <a:xfrm>
            <a:off x="838200" y="331304"/>
            <a:ext cx="10515600" cy="6308035"/>
          </a:xfrm>
        </p:spPr>
        <p:txBody>
          <a:bodyPr>
            <a:normAutofit fontScale="92500"/>
          </a:bodyPr>
          <a:lstStyle/>
          <a:p>
            <a:pPr marL="0" indent="0">
              <a:buNone/>
            </a:pPr>
            <a:r>
              <a:rPr lang="en-US" b="1" dirty="0">
                <a:solidFill>
                  <a:srgbClr val="FF0000"/>
                </a:solidFill>
              </a:rPr>
              <a:t>3. Design</a:t>
            </a:r>
          </a:p>
          <a:p>
            <a:pPr marL="0" indent="0">
              <a:buNone/>
            </a:pPr>
            <a:r>
              <a:rPr lang="en-US" b="1" dirty="0">
                <a:effectLst/>
              </a:rPr>
              <a:t>IT Professions: </a:t>
            </a:r>
            <a:r>
              <a:rPr lang="en-US" dirty="0"/>
              <a:t>UI/UX Designers ₱70,000–₱150,000; Architects ₱120,000–₱200,000</a:t>
            </a:r>
          </a:p>
          <a:p>
            <a:pPr marL="742950" lvl="1" indent="-285750">
              <a:buFont typeface="Arial" panose="020B0604020202020204" pitchFamily="34" charset="0"/>
              <a:buChar char="•"/>
            </a:pPr>
            <a:r>
              <a:rPr lang="en-US" sz="2800" b="1" dirty="0">
                <a:effectLst/>
              </a:rPr>
              <a:t>Software Architect</a:t>
            </a:r>
            <a:r>
              <a:rPr lang="en-US" sz="2800" dirty="0">
                <a:effectLst/>
              </a:rPr>
              <a:t> — designs system structure and components.</a:t>
            </a:r>
            <a:endParaRPr lang="en-US" sz="2800" dirty="0"/>
          </a:p>
          <a:p>
            <a:pPr marL="742950" lvl="1" indent="-285750">
              <a:buFont typeface="Arial" panose="020B0604020202020204" pitchFamily="34" charset="0"/>
              <a:buChar char="•"/>
            </a:pPr>
            <a:r>
              <a:rPr lang="en-US" sz="2800" b="1" dirty="0">
                <a:effectLst/>
              </a:rPr>
              <a:t>UI/UX Designer</a:t>
            </a:r>
            <a:r>
              <a:rPr lang="en-US" sz="2800" dirty="0">
                <a:effectLst/>
              </a:rPr>
              <a:t> — creates user interface and experience flows. (Figma)</a:t>
            </a:r>
            <a:endParaRPr lang="en-US" sz="2800" dirty="0"/>
          </a:p>
          <a:p>
            <a:pPr marL="742950" lvl="1" indent="-285750">
              <a:buFont typeface="Arial" panose="020B0604020202020204" pitchFamily="34" charset="0"/>
              <a:buChar char="•"/>
            </a:pPr>
            <a:r>
              <a:rPr lang="en-US" sz="2800" b="1" dirty="0">
                <a:effectLst/>
              </a:rPr>
              <a:t>Database Designer</a:t>
            </a:r>
            <a:r>
              <a:rPr lang="en-US" sz="2800" dirty="0">
                <a:effectLst/>
              </a:rPr>
              <a:t> — models data storage and relationships. (SQL)</a:t>
            </a:r>
          </a:p>
          <a:p>
            <a:pPr marL="0" indent="0">
              <a:buNone/>
            </a:pPr>
            <a:r>
              <a:rPr lang="en-US" b="1" dirty="0">
                <a:solidFill>
                  <a:srgbClr val="FF0000"/>
                </a:solidFill>
              </a:rPr>
              <a:t>4. Development</a:t>
            </a:r>
          </a:p>
          <a:p>
            <a:pPr marL="0" indent="0">
              <a:buNone/>
            </a:pPr>
            <a:r>
              <a:rPr lang="en-US" b="1" dirty="0">
                <a:effectLst/>
              </a:rPr>
              <a:t>IT Professions:</a:t>
            </a:r>
            <a:r>
              <a:rPr lang="en-US" dirty="0"/>
              <a:t>₱30,000–₱160,000 (PHP/NodeJS Developers ₱30,000–₱160,000; Mobile Developers ₱30,000–₱170,000)</a:t>
            </a:r>
          </a:p>
          <a:p>
            <a:pPr marL="742950" lvl="1" indent="-285750">
              <a:buFont typeface="Arial" panose="020B0604020202020204" pitchFamily="34" charset="0"/>
              <a:buChar char="•"/>
            </a:pPr>
            <a:r>
              <a:rPr lang="en-US" sz="2800" b="1" dirty="0">
                <a:effectLst/>
              </a:rPr>
              <a:t>Frontend Developer</a:t>
            </a:r>
            <a:r>
              <a:rPr lang="en-US" sz="2800" dirty="0">
                <a:effectLst/>
              </a:rPr>
              <a:t> — builds user-facing features (HTML, CSS, JavaScript, React).</a:t>
            </a:r>
            <a:endParaRPr lang="en-US" sz="2800" dirty="0"/>
          </a:p>
          <a:p>
            <a:pPr marL="742950" lvl="1" indent="-285750">
              <a:buFont typeface="Arial" panose="020B0604020202020204" pitchFamily="34" charset="0"/>
              <a:buChar char="•"/>
            </a:pPr>
            <a:r>
              <a:rPr lang="en-US" sz="2800" b="1" dirty="0">
                <a:effectLst/>
              </a:rPr>
              <a:t>Backend Developer</a:t>
            </a:r>
            <a:r>
              <a:rPr lang="en-US" sz="2800" dirty="0">
                <a:effectLst/>
              </a:rPr>
              <a:t> — implements server-side logic (Java, Python, Django).</a:t>
            </a:r>
            <a:endParaRPr lang="en-US" sz="2800" dirty="0"/>
          </a:p>
          <a:p>
            <a:pPr marL="742950" lvl="1" indent="-285750">
              <a:buFont typeface="Arial" panose="020B0604020202020204" pitchFamily="34" charset="0"/>
              <a:buChar char="•"/>
            </a:pPr>
            <a:r>
              <a:rPr lang="en-US" sz="2800" b="1" dirty="0">
                <a:effectLst/>
              </a:rPr>
              <a:t>Full-Stack Developer</a:t>
            </a:r>
            <a:r>
              <a:rPr lang="en-US" sz="2800" dirty="0">
                <a:effectLst/>
              </a:rPr>
              <a:t> — works on both frontend and backend.</a:t>
            </a:r>
            <a:endParaRPr lang="en-US" sz="2800" dirty="0"/>
          </a:p>
          <a:p>
            <a:pPr marL="457200" lvl="1" indent="0">
              <a:buNone/>
            </a:pPr>
            <a:r>
              <a:rPr lang="en-US" dirty="0"/>
              <a:t> </a:t>
            </a:r>
          </a:p>
          <a:p>
            <a:pPr marL="0" indent="0">
              <a:buNone/>
            </a:pPr>
            <a:endParaRPr lang="en-US" dirty="0"/>
          </a:p>
        </p:txBody>
      </p:sp>
    </p:spTree>
    <p:extLst>
      <p:ext uri="{BB962C8B-B14F-4D97-AF65-F5344CB8AC3E}">
        <p14:creationId xmlns:p14="http://schemas.microsoft.com/office/powerpoint/2010/main" val="38062124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0996E4-D9BE-4429-BFA3-71D30B3C70DC}"/>
              </a:ext>
            </a:extLst>
          </p:cNvPr>
          <p:cNvSpPr>
            <a:spLocks noGrp="1"/>
          </p:cNvSpPr>
          <p:nvPr>
            <p:ph idx="1"/>
          </p:nvPr>
        </p:nvSpPr>
        <p:spPr>
          <a:xfrm>
            <a:off x="838200" y="424070"/>
            <a:ext cx="10515600" cy="6122504"/>
          </a:xfrm>
        </p:spPr>
        <p:txBody>
          <a:bodyPr>
            <a:normAutofit fontScale="92500" lnSpcReduction="20000"/>
          </a:bodyPr>
          <a:lstStyle/>
          <a:p>
            <a:pPr marL="0" indent="0">
              <a:buNone/>
            </a:pPr>
            <a:r>
              <a:rPr lang="en-US" sz="3600" b="1" dirty="0">
                <a:solidFill>
                  <a:srgbClr val="FF0000"/>
                </a:solidFill>
              </a:rPr>
              <a:t>5. Testing</a:t>
            </a:r>
          </a:p>
          <a:p>
            <a:pPr>
              <a:buFont typeface="Arial" panose="020B0604020202020204" pitchFamily="34" charset="0"/>
              <a:buChar char="•"/>
            </a:pPr>
            <a:r>
              <a:rPr lang="en-US" sz="3600" b="1" dirty="0">
                <a:effectLst/>
              </a:rPr>
              <a:t>IT Professions: </a:t>
            </a:r>
            <a:r>
              <a:rPr lang="en-US" sz="2600" dirty="0"/>
              <a:t>₱50,000–₱130,000 (QA Managers ₱230,000–₱300,000)</a:t>
            </a:r>
          </a:p>
          <a:p>
            <a:pPr marL="742950" lvl="1" indent="-285750">
              <a:buFont typeface="Arial" panose="020B0604020202020204" pitchFamily="34" charset="0"/>
              <a:buChar char="•"/>
            </a:pPr>
            <a:r>
              <a:rPr lang="en-US" sz="3600" b="1" dirty="0">
                <a:effectLst/>
              </a:rPr>
              <a:t>Quality Assurance (QA) Engineer</a:t>
            </a:r>
            <a:r>
              <a:rPr lang="en-US" sz="3600" dirty="0">
                <a:effectLst/>
              </a:rPr>
              <a:t> — designs and runs test cases.</a:t>
            </a:r>
            <a:endParaRPr lang="en-US" sz="3600" dirty="0"/>
          </a:p>
          <a:p>
            <a:pPr marL="742950" lvl="1" indent="-285750">
              <a:buFont typeface="Arial" panose="020B0604020202020204" pitchFamily="34" charset="0"/>
              <a:buChar char="•"/>
            </a:pPr>
            <a:r>
              <a:rPr lang="en-US" sz="3600" b="1" dirty="0">
                <a:effectLst/>
              </a:rPr>
              <a:t>Test Automation Engineer</a:t>
            </a:r>
            <a:r>
              <a:rPr lang="en-US" sz="3600" dirty="0">
                <a:effectLst/>
              </a:rPr>
              <a:t> — builds automated test scripts.</a:t>
            </a:r>
            <a:endParaRPr lang="en-US" sz="3600" dirty="0"/>
          </a:p>
          <a:p>
            <a:pPr marL="742950" lvl="1" indent="-285750">
              <a:buFont typeface="Arial" panose="020B0604020202020204" pitchFamily="34" charset="0"/>
              <a:buChar char="•"/>
            </a:pPr>
            <a:r>
              <a:rPr lang="en-US" sz="3600" b="1" dirty="0">
                <a:effectLst/>
              </a:rPr>
              <a:t>Security Tester</a:t>
            </a:r>
            <a:r>
              <a:rPr lang="en-US" sz="3600" dirty="0">
                <a:effectLst/>
              </a:rPr>
              <a:t> — ensures system is safe from vulnerabilities.</a:t>
            </a:r>
          </a:p>
          <a:p>
            <a:pPr marL="0" indent="0">
              <a:buNone/>
            </a:pPr>
            <a:r>
              <a:rPr lang="en-US" sz="3600" b="1" dirty="0">
                <a:solidFill>
                  <a:srgbClr val="FF0000"/>
                </a:solidFill>
              </a:rPr>
              <a:t>6. Deployment</a:t>
            </a:r>
          </a:p>
          <a:p>
            <a:pPr>
              <a:buFont typeface="Arial" panose="020B0604020202020204" pitchFamily="34" charset="0"/>
              <a:buChar char="•"/>
            </a:pPr>
            <a:r>
              <a:rPr lang="en-US" sz="3600" b="1" dirty="0">
                <a:effectLst/>
              </a:rPr>
              <a:t>IT Professions: </a:t>
            </a:r>
            <a:r>
              <a:rPr lang="en-US" sz="3000" dirty="0"/>
              <a:t>DevOps ₱70,000–₱200,000; </a:t>
            </a:r>
            <a:r>
              <a:rPr lang="en-US" sz="3000" dirty="0" err="1"/>
              <a:t>SysAdmin</a:t>
            </a:r>
            <a:r>
              <a:rPr lang="en-US" sz="3000" dirty="0"/>
              <a:t> ₱30,000–₱150,000</a:t>
            </a:r>
          </a:p>
          <a:p>
            <a:pPr marL="742950" lvl="1" indent="-285750">
              <a:buFont typeface="Arial" panose="020B0604020202020204" pitchFamily="34" charset="0"/>
              <a:buChar char="•"/>
            </a:pPr>
            <a:r>
              <a:rPr lang="en-US" sz="3600" b="1" dirty="0">
                <a:effectLst/>
              </a:rPr>
              <a:t>DevOps Engineer</a:t>
            </a:r>
            <a:r>
              <a:rPr lang="en-US" sz="3600" dirty="0">
                <a:effectLst/>
              </a:rPr>
              <a:t> — manages CI/CD pipelines, cloud deployment.</a:t>
            </a:r>
            <a:endParaRPr lang="en-US" sz="3600" dirty="0"/>
          </a:p>
          <a:p>
            <a:pPr marL="742950" lvl="1" indent="-285750">
              <a:buFont typeface="Arial" panose="020B0604020202020204" pitchFamily="34" charset="0"/>
              <a:buChar char="•"/>
            </a:pPr>
            <a:r>
              <a:rPr lang="en-US" sz="3600" b="1" dirty="0">
                <a:effectLst/>
              </a:rPr>
              <a:t>System Administrator</a:t>
            </a:r>
            <a:r>
              <a:rPr lang="en-US" sz="3600" dirty="0">
                <a:effectLst/>
              </a:rPr>
              <a:t> — ensures servers and environments run smoothly.</a:t>
            </a:r>
            <a:endParaRPr lang="en-US" sz="3600" dirty="0"/>
          </a:p>
          <a:p>
            <a:pPr marL="742950" lvl="1" indent="-285750">
              <a:buFont typeface="Arial" panose="020B0604020202020204" pitchFamily="34" charset="0"/>
              <a:buChar char="•"/>
            </a:pPr>
            <a:endParaRPr lang="en-US" dirty="0"/>
          </a:p>
          <a:p>
            <a:pPr marL="0" indent="0">
              <a:buNone/>
            </a:pPr>
            <a:endParaRPr lang="en-US" dirty="0"/>
          </a:p>
        </p:txBody>
      </p:sp>
    </p:spTree>
    <p:extLst>
      <p:ext uri="{BB962C8B-B14F-4D97-AF65-F5344CB8AC3E}">
        <p14:creationId xmlns:p14="http://schemas.microsoft.com/office/powerpoint/2010/main" val="39781942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88046D-456E-4C1E-AF60-4F51F46FB57D}"/>
              </a:ext>
            </a:extLst>
          </p:cNvPr>
          <p:cNvSpPr>
            <a:spLocks noGrp="1"/>
          </p:cNvSpPr>
          <p:nvPr>
            <p:ph idx="1"/>
          </p:nvPr>
        </p:nvSpPr>
        <p:spPr>
          <a:xfrm>
            <a:off x="838200" y="477078"/>
            <a:ext cx="10515600" cy="5699885"/>
          </a:xfrm>
        </p:spPr>
        <p:txBody>
          <a:bodyPr/>
          <a:lstStyle/>
          <a:p>
            <a:pPr marL="0" indent="0">
              <a:buNone/>
            </a:pPr>
            <a:r>
              <a:rPr lang="en-US" b="1" dirty="0">
                <a:solidFill>
                  <a:srgbClr val="FF0000"/>
                </a:solidFill>
              </a:rPr>
              <a:t>7. Maintenance</a:t>
            </a:r>
          </a:p>
          <a:p>
            <a:pPr>
              <a:buFont typeface="Arial" panose="020B0604020202020204" pitchFamily="34" charset="0"/>
              <a:buChar char="•"/>
            </a:pPr>
            <a:r>
              <a:rPr lang="en-US" b="1" dirty="0">
                <a:effectLst/>
              </a:rPr>
              <a:t>IT Professions: </a:t>
            </a:r>
            <a:r>
              <a:rPr lang="en-US" dirty="0"/>
              <a:t>₱50,000–₱180,000 (Cybersecurity often ₱100,000–₱200,000+)</a:t>
            </a:r>
          </a:p>
          <a:p>
            <a:pPr marL="742950" lvl="1" indent="-285750">
              <a:buFont typeface="Arial" panose="020B0604020202020204" pitchFamily="34" charset="0"/>
              <a:buChar char="•"/>
            </a:pPr>
            <a:r>
              <a:rPr lang="en-US" b="1" dirty="0">
                <a:effectLst/>
              </a:rPr>
              <a:t>Support Engineer</a:t>
            </a:r>
            <a:r>
              <a:rPr lang="en-US" dirty="0">
                <a:effectLst/>
              </a:rPr>
              <a:t> — handles bug reports and user issues.</a:t>
            </a:r>
            <a:endParaRPr lang="en-US" dirty="0"/>
          </a:p>
          <a:p>
            <a:pPr marL="742950" lvl="1" indent="-285750">
              <a:buFont typeface="Arial" panose="020B0604020202020204" pitchFamily="34" charset="0"/>
              <a:buChar char="•"/>
            </a:pPr>
            <a:r>
              <a:rPr lang="en-US" b="1" dirty="0">
                <a:effectLst/>
              </a:rPr>
              <a:t>Software Maintenance Engineer</a:t>
            </a:r>
            <a:r>
              <a:rPr lang="en-US" dirty="0">
                <a:effectLst/>
              </a:rPr>
              <a:t> — updates and improves features.</a:t>
            </a:r>
            <a:endParaRPr lang="en-US" dirty="0"/>
          </a:p>
          <a:p>
            <a:pPr marL="742950" lvl="1" indent="-285750">
              <a:buFont typeface="Arial" panose="020B0604020202020204" pitchFamily="34" charset="0"/>
              <a:buChar char="•"/>
            </a:pPr>
            <a:r>
              <a:rPr lang="en-US" b="1" dirty="0">
                <a:effectLst/>
              </a:rPr>
              <a:t>Cybersecurity Specialist</a:t>
            </a:r>
            <a:r>
              <a:rPr lang="en-US" dirty="0">
                <a:effectLst/>
              </a:rPr>
              <a:t> — monitors threats and applies patches.</a:t>
            </a:r>
            <a:endParaRPr lang="en-US" dirty="0"/>
          </a:p>
          <a:p>
            <a:pPr marL="0" indent="0">
              <a:buNone/>
            </a:pPr>
            <a:r>
              <a:rPr lang="en-US" b="1" dirty="0"/>
              <a:t>References</a:t>
            </a:r>
          </a:p>
          <a:p>
            <a:pPr>
              <a:buFont typeface="Arial" panose="020B0604020202020204" pitchFamily="34" charset="0"/>
              <a:buChar char="•"/>
            </a:pPr>
            <a:r>
              <a:rPr lang="en-US" dirty="0">
                <a:effectLst/>
              </a:rPr>
              <a:t>Sommerville, I. (2016). </a:t>
            </a:r>
            <a:r>
              <a:rPr lang="en-US" i="1" dirty="0">
                <a:effectLst/>
              </a:rPr>
              <a:t>Software Engineering</a:t>
            </a:r>
            <a:r>
              <a:rPr lang="en-US" dirty="0">
                <a:effectLst/>
              </a:rPr>
              <a:t> (10th ed.). Pearson.</a:t>
            </a:r>
            <a:endParaRPr lang="en-US" dirty="0"/>
          </a:p>
          <a:p>
            <a:pPr>
              <a:buFont typeface="Arial" panose="020B0604020202020204" pitchFamily="34" charset="0"/>
              <a:buChar char="•"/>
            </a:pPr>
            <a:r>
              <a:rPr lang="en-US" dirty="0">
                <a:effectLst/>
              </a:rPr>
              <a:t>Pressman, R. S., &amp; Maxim, B. R. (2019). </a:t>
            </a:r>
            <a:r>
              <a:rPr lang="en-US" i="1" dirty="0">
                <a:effectLst/>
              </a:rPr>
              <a:t>Software Engineering: A Practitioner’s Approach</a:t>
            </a:r>
            <a:r>
              <a:rPr lang="en-US" dirty="0">
                <a:effectLst/>
              </a:rPr>
              <a:t> (9th ed.). McGraw-Hill.</a:t>
            </a:r>
            <a:endParaRPr lang="en-US" dirty="0"/>
          </a:p>
          <a:p>
            <a:pPr>
              <a:buFont typeface="Arial" panose="020B0604020202020204" pitchFamily="34" charset="0"/>
              <a:buChar char="•"/>
            </a:pPr>
            <a:r>
              <a:rPr lang="en-US" dirty="0">
                <a:effectLst/>
              </a:rPr>
              <a:t>Schneider, G. M., &amp; </a:t>
            </a:r>
            <a:r>
              <a:rPr lang="en-US" dirty="0" err="1">
                <a:effectLst/>
              </a:rPr>
              <a:t>Gersting</a:t>
            </a:r>
            <a:r>
              <a:rPr lang="en-US" dirty="0">
                <a:effectLst/>
              </a:rPr>
              <a:t>, J. L. (2022). </a:t>
            </a:r>
            <a:r>
              <a:rPr lang="en-US" i="1" dirty="0">
                <a:effectLst/>
              </a:rPr>
              <a:t>Invitation to Computer Science</a:t>
            </a:r>
            <a:r>
              <a:rPr lang="en-US" dirty="0">
                <a:effectLst/>
              </a:rPr>
              <a:t> (9th ed.). Cengage Learning.</a:t>
            </a:r>
            <a:endParaRPr lang="en-US" dirty="0"/>
          </a:p>
          <a:p>
            <a:pPr marL="0" indent="0">
              <a:buNone/>
            </a:pPr>
            <a:endParaRPr lang="en-US" dirty="0"/>
          </a:p>
        </p:txBody>
      </p:sp>
    </p:spTree>
    <p:extLst>
      <p:ext uri="{BB962C8B-B14F-4D97-AF65-F5344CB8AC3E}">
        <p14:creationId xmlns:p14="http://schemas.microsoft.com/office/powerpoint/2010/main" val="2953055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A1A2F-7875-4074-B5CA-60144B8AEC38}"/>
              </a:ext>
            </a:extLst>
          </p:cNvPr>
          <p:cNvSpPr>
            <a:spLocks noGrp="1"/>
          </p:cNvSpPr>
          <p:nvPr>
            <p:ph type="title"/>
          </p:nvPr>
        </p:nvSpPr>
        <p:spPr>
          <a:xfrm>
            <a:off x="851452" y="2514427"/>
            <a:ext cx="9737035" cy="1325563"/>
          </a:xfrm>
        </p:spPr>
        <p:txBody>
          <a:bodyPr>
            <a:noAutofit/>
          </a:bodyPr>
          <a:lstStyle/>
          <a:p>
            <a:r>
              <a:rPr lang="en-US" sz="4800" dirty="0">
                <a:effectLst/>
                <a:latin typeface="Arial" panose="020B0604020202020204" pitchFamily="34" charset="0"/>
                <a:ea typeface="Calibri" panose="020F0502020204030204" pitchFamily="34" charset="0"/>
              </a:rPr>
              <a:t>Types of computers and their applications</a:t>
            </a:r>
            <a:endParaRPr lang="en-US" sz="4800" dirty="0"/>
          </a:p>
        </p:txBody>
      </p:sp>
    </p:spTree>
    <p:extLst>
      <p:ext uri="{BB962C8B-B14F-4D97-AF65-F5344CB8AC3E}">
        <p14:creationId xmlns:p14="http://schemas.microsoft.com/office/powerpoint/2010/main" val="23607139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3F94B-AA7B-467D-8010-EE38E5AA1234}"/>
              </a:ext>
            </a:extLst>
          </p:cNvPr>
          <p:cNvSpPr>
            <a:spLocks noGrp="1"/>
          </p:cNvSpPr>
          <p:nvPr>
            <p:ph type="title"/>
          </p:nvPr>
        </p:nvSpPr>
        <p:spPr>
          <a:xfrm>
            <a:off x="838200" y="365125"/>
            <a:ext cx="10515600" cy="734805"/>
          </a:xfrm>
        </p:spPr>
        <p:txBody>
          <a:bodyPr>
            <a:normAutofit fontScale="90000"/>
          </a:bodyPr>
          <a:lstStyle/>
          <a:p>
            <a:br>
              <a:rPr lang="en-US" b="1" i="0" dirty="0">
                <a:solidFill>
                  <a:srgbClr val="273239"/>
                </a:solidFill>
                <a:effectLst/>
                <a:latin typeface="Nunito" pitchFamily="2" charset="0"/>
              </a:rPr>
            </a:br>
            <a:r>
              <a:rPr lang="en-US" b="1" i="0" dirty="0">
                <a:solidFill>
                  <a:srgbClr val="273239"/>
                </a:solidFill>
                <a:effectLst/>
                <a:latin typeface="Nunito" pitchFamily="2" charset="0"/>
              </a:rPr>
              <a:t>Introduction</a:t>
            </a:r>
            <a:br>
              <a:rPr lang="en-US" b="1" i="0" dirty="0">
                <a:solidFill>
                  <a:srgbClr val="273239"/>
                </a:solidFill>
                <a:effectLst/>
                <a:latin typeface="Nunito" pitchFamily="2" charset="0"/>
              </a:rPr>
            </a:br>
            <a:endParaRPr lang="en-US" dirty="0"/>
          </a:p>
        </p:txBody>
      </p:sp>
      <p:sp>
        <p:nvSpPr>
          <p:cNvPr id="3" name="Content Placeholder 2">
            <a:extLst>
              <a:ext uri="{FF2B5EF4-FFF2-40B4-BE49-F238E27FC236}">
                <a16:creationId xmlns:a16="http://schemas.microsoft.com/office/drawing/2014/main" id="{7FC9A995-4EF8-4FF0-A956-E68A40882840}"/>
              </a:ext>
            </a:extLst>
          </p:cNvPr>
          <p:cNvSpPr>
            <a:spLocks noGrp="1"/>
          </p:cNvSpPr>
          <p:nvPr>
            <p:ph idx="1"/>
          </p:nvPr>
        </p:nvSpPr>
        <p:spPr>
          <a:xfrm>
            <a:off x="838200" y="1099930"/>
            <a:ext cx="10515600" cy="5392945"/>
          </a:xfrm>
        </p:spPr>
        <p:txBody>
          <a:bodyPr/>
          <a:lstStyle/>
          <a:p>
            <a:pPr marL="0" indent="0">
              <a:buNone/>
            </a:pPr>
            <a:r>
              <a:rPr lang="en-US" b="0" i="0" dirty="0">
                <a:solidFill>
                  <a:srgbClr val="273239"/>
                </a:solidFill>
                <a:effectLst/>
                <a:latin typeface="Nunito" pitchFamily="2" charset="0"/>
              </a:rPr>
              <a:t>Computers have become an integral part of our daily lives, evolving from simple calculation machines to complex systems. In this section, we will cover the basics, explore their history, and discuss different types of computers.</a:t>
            </a:r>
          </a:p>
          <a:p>
            <a:pPr marL="0" indent="0">
              <a:buNone/>
            </a:pPr>
            <a:r>
              <a:rPr lang="en-US" b="1" i="1" dirty="0">
                <a:solidFill>
                  <a:srgbClr val="273239"/>
                </a:solidFill>
                <a:effectLst/>
                <a:latin typeface="Source Sans 3"/>
              </a:rPr>
              <a:t>What is a Computer?</a:t>
            </a:r>
          </a:p>
          <a:p>
            <a:pPr marL="0" indent="0">
              <a:buNone/>
            </a:pPr>
            <a:r>
              <a:rPr lang="en-US" b="0" i="0" dirty="0">
                <a:solidFill>
                  <a:srgbClr val="273239"/>
                </a:solidFill>
                <a:effectLst/>
                <a:latin typeface="Nunito" pitchFamily="2" charset="0"/>
              </a:rPr>
              <a:t>Computer is an electronic device that processes data according to instructions provided by software programs. It takes input (data), processes it using a central processing unit (CPU), stores information, and produces output (results) to perform various tasks. It is widely used in fields such as education, business, communication, and entertainment for efficient and accurate operations.</a:t>
            </a:r>
            <a:endParaRPr lang="en-US" b="1" i="0" dirty="0">
              <a:solidFill>
                <a:srgbClr val="273239"/>
              </a:solidFill>
              <a:effectLst/>
              <a:latin typeface="Source Sans 3"/>
            </a:endParaRPr>
          </a:p>
          <a:p>
            <a:pPr marL="0" indent="0">
              <a:buNone/>
            </a:pPr>
            <a:endParaRPr lang="en-US" dirty="0"/>
          </a:p>
        </p:txBody>
      </p:sp>
    </p:spTree>
    <p:extLst>
      <p:ext uri="{BB962C8B-B14F-4D97-AF65-F5344CB8AC3E}">
        <p14:creationId xmlns:p14="http://schemas.microsoft.com/office/powerpoint/2010/main" val="29938346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CDEA3-98BE-4C32-A7B1-1B70D150344D}"/>
              </a:ext>
            </a:extLst>
          </p:cNvPr>
          <p:cNvSpPr>
            <a:spLocks noGrp="1"/>
          </p:cNvSpPr>
          <p:nvPr>
            <p:ph type="title"/>
          </p:nvPr>
        </p:nvSpPr>
        <p:spPr>
          <a:xfrm>
            <a:off x="838200" y="490330"/>
            <a:ext cx="10515600" cy="503584"/>
          </a:xfrm>
        </p:spPr>
        <p:txBody>
          <a:bodyPr>
            <a:normAutofit fontScale="90000"/>
          </a:bodyPr>
          <a:lstStyle/>
          <a:p>
            <a:r>
              <a:rPr lang="en-US" b="1" i="0" dirty="0">
                <a:solidFill>
                  <a:srgbClr val="273239"/>
                </a:solidFill>
                <a:effectLst/>
                <a:latin typeface="Nunito" pitchFamily="2" charset="0"/>
              </a:rPr>
              <a:t>Types of Computers</a:t>
            </a:r>
            <a:br>
              <a:rPr lang="en-US" b="1" i="0" dirty="0">
                <a:solidFill>
                  <a:srgbClr val="273239"/>
                </a:solidFill>
                <a:effectLst/>
                <a:latin typeface="Nunito" pitchFamily="2" charset="0"/>
              </a:rPr>
            </a:br>
            <a:endParaRPr lang="en-US" dirty="0"/>
          </a:p>
        </p:txBody>
      </p:sp>
      <p:sp>
        <p:nvSpPr>
          <p:cNvPr id="3" name="Content Placeholder 2">
            <a:extLst>
              <a:ext uri="{FF2B5EF4-FFF2-40B4-BE49-F238E27FC236}">
                <a16:creationId xmlns:a16="http://schemas.microsoft.com/office/drawing/2014/main" id="{1B599174-FC7E-4B23-A4FA-A050B9A43FFD}"/>
              </a:ext>
            </a:extLst>
          </p:cNvPr>
          <p:cNvSpPr>
            <a:spLocks noGrp="1"/>
          </p:cNvSpPr>
          <p:nvPr>
            <p:ph idx="1"/>
          </p:nvPr>
        </p:nvSpPr>
        <p:spPr>
          <a:xfrm>
            <a:off x="838200" y="874643"/>
            <a:ext cx="10515600" cy="5302320"/>
          </a:xfrm>
        </p:spPr>
        <p:txBody>
          <a:bodyPr/>
          <a:lstStyle/>
          <a:p>
            <a:pPr marL="0" indent="0" algn="l" rtl="0" fontAlgn="base">
              <a:buNone/>
            </a:pPr>
            <a:r>
              <a:rPr lang="en-US" b="0" i="0" dirty="0">
                <a:solidFill>
                  <a:srgbClr val="273239"/>
                </a:solidFill>
                <a:effectLst/>
                <a:latin typeface="Nunito" pitchFamily="2" charset="0"/>
              </a:rPr>
              <a:t>There are various types of computers that are used today based on the needs of the user. Some of the types are:</a:t>
            </a:r>
          </a:p>
          <a:p>
            <a:pPr marL="0" indent="0" algn="l" fontAlgn="base">
              <a:buNone/>
            </a:pPr>
            <a:r>
              <a:rPr lang="en-US" b="1" i="0" dirty="0">
                <a:solidFill>
                  <a:srgbClr val="273239"/>
                </a:solidFill>
                <a:effectLst/>
                <a:latin typeface="Nunito" pitchFamily="2" charset="0"/>
              </a:rPr>
              <a:t>Desktop: </a:t>
            </a:r>
            <a:r>
              <a:rPr lang="en-US" b="0" i="0" dirty="0">
                <a:solidFill>
                  <a:srgbClr val="273239"/>
                </a:solidFill>
                <a:effectLst/>
                <a:latin typeface="Nunito" pitchFamily="2" charset="0"/>
              </a:rPr>
              <a:t>Desktops are mainly used for regular use, and they have separate components mounted together, like the monitor, keyboard, mouse, CPU, etc. Since the system is primarily kept on a desk for better usability, it is called a desktop.</a:t>
            </a:r>
          </a:p>
          <a:p>
            <a:pPr marL="0" indent="0" algn="l" fontAlgn="base">
              <a:buNone/>
            </a:pPr>
            <a:endParaRPr lang="en-US" b="0" i="0" dirty="0">
              <a:solidFill>
                <a:srgbClr val="273239"/>
              </a:solidFill>
              <a:effectLst/>
              <a:latin typeface="Nunito" pitchFamily="2" charset="0"/>
            </a:endParaRPr>
          </a:p>
          <a:p>
            <a:pPr marL="0" indent="0">
              <a:buNone/>
            </a:pPr>
            <a:endParaRPr lang="en-US" dirty="0"/>
          </a:p>
        </p:txBody>
      </p:sp>
      <p:pic>
        <p:nvPicPr>
          <p:cNvPr id="5" name="Picture 4">
            <a:extLst>
              <a:ext uri="{FF2B5EF4-FFF2-40B4-BE49-F238E27FC236}">
                <a16:creationId xmlns:a16="http://schemas.microsoft.com/office/drawing/2014/main" id="{C8AA0AE0-4DAE-47EC-BDBE-C2664B28F3CF}"/>
              </a:ext>
            </a:extLst>
          </p:cNvPr>
          <p:cNvPicPr>
            <a:picLocks noChangeAspect="1"/>
          </p:cNvPicPr>
          <p:nvPr/>
        </p:nvPicPr>
        <p:blipFill>
          <a:blip r:embed="rId2"/>
          <a:stretch>
            <a:fillRect/>
          </a:stretch>
        </p:blipFill>
        <p:spPr>
          <a:xfrm>
            <a:off x="2089417" y="3429000"/>
            <a:ext cx="7059010" cy="3162741"/>
          </a:xfrm>
          <a:prstGeom prst="rect">
            <a:avLst/>
          </a:prstGeom>
        </p:spPr>
      </p:pic>
    </p:spTree>
    <p:extLst>
      <p:ext uri="{BB962C8B-B14F-4D97-AF65-F5344CB8AC3E}">
        <p14:creationId xmlns:p14="http://schemas.microsoft.com/office/powerpoint/2010/main" val="387274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262D73-8D14-45DF-90C5-1397F90C2840}"/>
              </a:ext>
            </a:extLst>
          </p:cNvPr>
          <p:cNvSpPr>
            <a:spLocks noGrp="1"/>
          </p:cNvSpPr>
          <p:nvPr>
            <p:ph idx="1"/>
          </p:nvPr>
        </p:nvSpPr>
        <p:spPr>
          <a:xfrm>
            <a:off x="838200" y="371061"/>
            <a:ext cx="10515600" cy="5805902"/>
          </a:xfrm>
        </p:spPr>
        <p:txBody>
          <a:bodyPr/>
          <a:lstStyle/>
          <a:p>
            <a:pPr marL="0" indent="0">
              <a:buNone/>
            </a:pPr>
            <a:r>
              <a:rPr lang="en-US" b="1" i="0" dirty="0">
                <a:solidFill>
                  <a:srgbClr val="273239"/>
                </a:solidFill>
                <a:effectLst/>
                <a:latin typeface="Nunito" pitchFamily="2" charset="0"/>
              </a:rPr>
              <a:t>Laptop: </a:t>
            </a:r>
            <a:r>
              <a:rPr lang="en-US" b="0" i="0" dirty="0">
                <a:solidFill>
                  <a:srgbClr val="273239"/>
                </a:solidFill>
                <a:effectLst/>
                <a:latin typeface="Nunito" pitchFamily="2" charset="0"/>
              </a:rPr>
              <a:t>Laptops are a portable version of desktops, with all the components integrated into a single unit thus providing mobility to the system. They are great for on-the-go work and come with built-in webcams, Bluetooth and Wi-Fi.</a:t>
            </a:r>
          </a:p>
          <a:p>
            <a:pPr marL="0" indent="0">
              <a:buNone/>
            </a:pPr>
            <a:endParaRPr lang="en-US" dirty="0"/>
          </a:p>
        </p:txBody>
      </p:sp>
      <p:pic>
        <p:nvPicPr>
          <p:cNvPr id="6" name="Picture 5">
            <a:extLst>
              <a:ext uri="{FF2B5EF4-FFF2-40B4-BE49-F238E27FC236}">
                <a16:creationId xmlns:a16="http://schemas.microsoft.com/office/drawing/2014/main" id="{C5E77A98-9208-491F-A580-42590240AD18}"/>
              </a:ext>
            </a:extLst>
          </p:cNvPr>
          <p:cNvPicPr>
            <a:picLocks noChangeAspect="1"/>
          </p:cNvPicPr>
          <p:nvPr/>
        </p:nvPicPr>
        <p:blipFill>
          <a:blip r:embed="rId2"/>
          <a:stretch>
            <a:fillRect/>
          </a:stretch>
        </p:blipFill>
        <p:spPr>
          <a:xfrm>
            <a:off x="2728675" y="2161299"/>
            <a:ext cx="6363588" cy="3648584"/>
          </a:xfrm>
          <a:prstGeom prst="rect">
            <a:avLst/>
          </a:prstGeom>
        </p:spPr>
      </p:pic>
    </p:spTree>
    <p:extLst>
      <p:ext uri="{BB962C8B-B14F-4D97-AF65-F5344CB8AC3E}">
        <p14:creationId xmlns:p14="http://schemas.microsoft.com/office/powerpoint/2010/main" val="12957338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74DF4A-99B3-4B18-BF53-5E7511E6ECD7}"/>
              </a:ext>
            </a:extLst>
          </p:cNvPr>
          <p:cNvSpPr>
            <a:spLocks noGrp="1"/>
          </p:cNvSpPr>
          <p:nvPr>
            <p:ph idx="1"/>
          </p:nvPr>
        </p:nvSpPr>
        <p:spPr>
          <a:xfrm>
            <a:off x="838200" y="490330"/>
            <a:ext cx="10515600" cy="5686633"/>
          </a:xfrm>
        </p:spPr>
        <p:txBody>
          <a:bodyPr/>
          <a:lstStyle/>
          <a:p>
            <a:pPr marL="0" indent="0">
              <a:buNone/>
            </a:pPr>
            <a:r>
              <a:rPr lang="en-US" b="1" i="0" dirty="0">
                <a:solidFill>
                  <a:srgbClr val="273239"/>
                </a:solidFill>
                <a:effectLst/>
                <a:latin typeface="Nunito" pitchFamily="2" charset="0"/>
              </a:rPr>
              <a:t>Servers: </a:t>
            </a:r>
            <a:r>
              <a:rPr lang="en-US" b="0" i="0" dirty="0">
                <a:solidFill>
                  <a:srgbClr val="273239"/>
                </a:solidFill>
                <a:effectLst/>
                <a:latin typeface="Nunito" pitchFamily="2" charset="0"/>
              </a:rPr>
              <a:t>Servers are special types of computers that are used to manage network resources. They provide services to other systems and computers. Some of the primary tasks of servers include creating databases, hosting and providing support to other applications.</a:t>
            </a:r>
          </a:p>
          <a:p>
            <a:pPr marL="0" indent="0">
              <a:buNone/>
            </a:pPr>
            <a:endParaRPr lang="en-US" dirty="0"/>
          </a:p>
        </p:txBody>
      </p:sp>
      <p:pic>
        <p:nvPicPr>
          <p:cNvPr id="6" name="Picture 5">
            <a:extLst>
              <a:ext uri="{FF2B5EF4-FFF2-40B4-BE49-F238E27FC236}">
                <a16:creationId xmlns:a16="http://schemas.microsoft.com/office/drawing/2014/main" id="{0A07C029-759B-4916-A6F3-9D8B2811CA6F}"/>
              </a:ext>
            </a:extLst>
          </p:cNvPr>
          <p:cNvPicPr>
            <a:picLocks noChangeAspect="1"/>
          </p:cNvPicPr>
          <p:nvPr/>
        </p:nvPicPr>
        <p:blipFill>
          <a:blip r:embed="rId2"/>
          <a:stretch>
            <a:fillRect/>
          </a:stretch>
        </p:blipFill>
        <p:spPr>
          <a:xfrm>
            <a:off x="4355307" y="2514472"/>
            <a:ext cx="3090587" cy="3853198"/>
          </a:xfrm>
          <a:prstGeom prst="rect">
            <a:avLst/>
          </a:prstGeom>
        </p:spPr>
      </p:pic>
    </p:spTree>
    <p:extLst>
      <p:ext uri="{BB962C8B-B14F-4D97-AF65-F5344CB8AC3E}">
        <p14:creationId xmlns:p14="http://schemas.microsoft.com/office/powerpoint/2010/main" val="26530356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E856B4-6A31-4D22-8CD0-45DF0098FBC4}"/>
              </a:ext>
            </a:extLst>
          </p:cNvPr>
          <p:cNvSpPr>
            <a:spLocks noGrp="1"/>
          </p:cNvSpPr>
          <p:nvPr>
            <p:ph idx="1"/>
          </p:nvPr>
        </p:nvSpPr>
        <p:spPr>
          <a:xfrm>
            <a:off x="838200" y="490330"/>
            <a:ext cx="10515600" cy="5686633"/>
          </a:xfrm>
        </p:spPr>
        <p:txBody>
          <a:bodyPr/>
          <a:lstStyle/>
          <a:p>
            <a:pPr marL="0" indent="0">
              <a:buNone/>
            </a:pPr>
            <a:r>
              <a:rPr lang="en-US" b="1" i="0" dirty="0">
                <a:solidFill>
                  <a:srgbClr val="273239"/>
                </a:solidFill>
                <a:effectLst/>
                <a:latin typeface="Nunito" pitchFamily="2" charset="0"/>
              </a:rPr>
              <a:t>Tablets: </a:t>
            </a:r>
            <a:r>
              <a:rPr lang="en-US" b="0" i="0" dirty="0">
                <a:solidFill>
                  <a:srgbClr val="273239"/>
                </a:solidFill>
                <a:effectLst/>
                <a:latin typeface="Nunito" pitchFamily="2" charset="0"/>
              </a:rPr>
              <a:t>Tablets are even more portable than laptops. They are smaller than laptops but are larger than smartphones. They come with touchscreens which makes them perfect for browsing the web, consuming content and personal communications.</a:t>
            </a:r>
          </a:p>
          <a:p>
            <a:endParaRPr lang="en-US" dirty="0"/>
          </a:p>
        </p:txBody>
      </p:sp>
      <p:pic>
        <p:nvPicPr>
          <p:cNvPr id="5" name="Picture 4">
            <a:extLst>
              <a:ext uri="{FF2B5EF4-FFF2-40B4-BE49-F238E27FC236}">
                <a16:creationId xmlns:a16="http://schemas.microsoft.com/office/drawing/2014/main" id="{6D5C3009-EC67-4E53-A5DD-7803DC4C58E0}"/>
              </a:ext>
            </a:extLst>
          </p:cNvPr>
          <p:cNvPicPr>
            <a:picLocks noChangeAspect="1"/>
          </p:cNvPicPr>
          <p:nvPr/>
        </p:nvPicPr>
        <p:blipFill>
          <a:blip r:embed="rId2"/>
          <a:stretch>
            <a:fillRect/>
          </a:stretch>
        </p:blipFill>
        <p:spPr>
          <a:xfrm>
            <a:off x="3669454" y="2628788"/>
            <a:ext cx="5207729" cy="3738882"/>
          </a:xfrm>
          <a:prstGeom prst="rect">
            <a:avLst/>
          </a:prstGeom>
        </p:spPr>
      </p:pic>
    </p:spTree>
    <p:extLst>
      <p:ext uri="{BB962C8B-B14F-4D97-AF65-F5344CB8AC3E}">
        <p14:creationId xmlns:p14="http://schemas.microsoft.com/office/powerpoint/2010/main" val="34937142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125557-8365-442C-BB6C-D01C0C1E74E3}"/>
              </a:ext>
            </a:extLst>
          </p:cNvPr>
          <p:cNvSpPr>
            <a:spLocks noGrp="1"/>
          </p:cNvSpPr>
          <p:nvPr>
            <p:ph idx="1"/>
          </p:nvPr>
        </p:nvSpPr>
        <p:spPr>
          <a:xfrm>
            <a:off x="838200" y="609600"/>
            <a:ext cx="10515600" cy="5567363"/>
          </a:xfrm>
        </p:spPr>
        <p:txBody>
          <a:bodyPr/>
          <a:lstStyle/>
          <a:p>
            <a:pPr marL="0" indent="0">
              <a:buNone/>
            </a:pPr>
            <a:r>
              <a:rPr lang="en-US" b="1" i="0" dirty="0">
                <a:solidFill>
                  <a:srgbClr val="273239"/>
                </a:solidFill>
                <a:effectLst/>
                <a:latin typeface="Nunito" pitchFamily="2" charset="0"/>
              </a:rPr>
              <a:t>Other devices: </a:t>
            </a:r>
            <a:r>
              <a:rPr lang="en-US" b="0" i="0" dirty="0">
                <a:solidFill>
                  <a:srgbClr val="273239"/>
                </a:solidFill>
                <a:effectLst/>
                <a:latin typeface="Nunito" pitchFamily="2" charset="0"/>
              </a:rPr>
              <a:t>Other devices include smartphones, game consoles, Smart TVs etc.</a:t>
            </a:r>
          </a:p>
          <a:p>
            <a:pPr marL="0" indent="0">
              <a:buNone/>
            </a:pPr>
            <a:endParaRPr lang="en-US" b="0" i="0" dirty="0">
              <a:solidFill>
                <a:srgbClr val="273239"/>
              </a:solidFill>
              <a:effectLst/>
              <a:latin typeface="Nunito" pitchFamily="2" charset="0"/>
            </a:endParaRPr>
          </a:p>
          <a:p>
            <a:pPr marL="0" indent="0">
              <a:buNone/>
            </a:pPr>
            <a:endParaRPr lang="en-US" dirty="0"/>
          </a:p>
        </p:txBody>
      </p:sp>
      <p:pic>
        <p:nvPicPr>
          <p:cNvPr id="5" name="Picture 4">
            <a:extLst>
              <a:ext uri="{FF2B5EF4-FFF2-40B4-BE49-F238E27FC236}">
                <a16:creationId xmlns:a16="http://schemas.microsoft.com/office/drawing/2014/main" id="{B602FB89-7F3A-4719-BE01-3A74E1A086DA}"/>
              </a:ext>
            </a:extLst>
          </p:cNvPr>
          <p:cNvPicPr>
            <a:picLocks noChangeAspect="1"/>
          </p:cNvPicPr>
          <p:nvPr/>
        </p:nvPicPr>
        <p:blipFill>
          <a:blip r:embed="rId2"/>
          <a:stretch>
            <a:fillRect/>
          </a:stretch>
        </p:blipFill>
        <p:spPr>
          <a:xfrm>
            <a:off x="2420652" y="1829931"/>
            <a:ext cx="8082482" cy="4610626"/>
          </a:xfrm>
          <a:prstGeom prst="rect">
            <a:avLst/>
          </a:prstGeom>
        </p:spPr>
      </p:pic>
    </p:spTree>
    <p:extLst>
      <p:ext uri="{BB962C8B-B14F-4D97-AF65-F5344CB8AC3E}">
        <p14:creationId xmlns:p14="http://schemas.microsoft.com/office/powerpoint/2010/main" val="26232426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F4B0E-141E-409F-971A-9F17C7E5F4F8}"/>
              </a:ext>
            </a:extLst>
          </p:cNvPr>
          <p:cNvSpPr>
            <a:spLocks noGrp="1"/>
          </p:cNvSpPr>
          <p:nvPr>
            <p:ph type="title"/>
          </p:nvPr>
        </p:nvSpPr>
        <p:spPr>
          <a:xfrm>
            <a:off x="838200" y="365125"/>
            <a:ext cx="10515600" cy="840823"/>
          </a:xfrm>
        </p:spPr>
        <p:txBody>
          <a:bodyPr>
            <a:normAutofit fontScale="90000"/>
          </a:bodyPr>
          <a:lstStyle/>
          <a:p>
            <a:r>
              <a:rPr lang="en-US" b="1" i="0" dirty="0">
                <a:solidFill>
                  <a:srgbClr val="273239"/>
                </a:solidFill>
                <a:effectLst/>
                <a:latin typeface="Nunito" pitchFamily="2" charset="0"/>
              </a:rPr>
              <a:t>Classification of Computers (Based on size)</a:t>
            </a:r>
            <a:br>
              <a:rPr lang="en-US" b="1" i="0" dirty="0">
                <a:solidFill>
                  <a:srgbClr val="273239"/>
                </a:solidFill>
                <a:effectLst/>
                <a:latin typeface="Nunito" pitchFamily="2" charset="0"/>
              </a:rPr>
            </a:br>
            <a:endParaRPr lang="en-US" dirty="0"/>
          </a:p>
        </p:txBody>
      </p:sp>
      <p:sp>
        <p:nvSpPr>
          <p:cNvPr id="3" name="Content Placeholder 2">
            <a:extLst>
              <a:ext uri="{FF2B5EF4-FFF2-40B4-BE49-F238E27FC236}">
                <a16:creationId xmlns:a16="http://schemas.microsoft.com/office/drawing/2014/main" id="{7C84B07A-395B-4D5F-94ED-50AA8CAE4EA4}"/>
              </a:ext>
            </a:extLst>
          </p:cNvPr>
          <p:cNvSpPr>
            <a:spLocks noGrp="1"/>
          </p:cNvSpPr>
          <p:nvPr>
            <p:ph idx="1"/>
          </p:nvPr>
        </p:nvSpPr>
        <p:spPr>
          <a:xfrm>
            <a:off x="838200" y="1020417"/>
            <a:ext cx="10515600" cy="5156546"/>
          </a:xfrm>
        </p:spPr>
        <p:txBody>
          <a:bodyPr/>
          <a:lstStyle/>
          <a:p>
            <a:pPr marL="0" indent="0">
              <a:buNone/>
            </a:pPr>
            <a:r>
              <a:rPr lang="en-US" sz="3200" b="0" i="0" dirty="0">
                <a:solidFill>
                  <a:srgbClr val="273239"/>
                </a:solidFill>
                <a:effectLst/>
                <a:latin typeface="Nunito" pitchFamily="2" charset="0"/>
              </a:rPr>
              <a:t>Computers can be categorized in various ways based on size, processing power, functionality, and other parameters. Here's an overview of the different types:</a:t>
            </a:r>
          </a:p>
          <a:p>
            <a:pPr marL="0" indent="0">
              <a:buNone/>
            </a:pPr>
            <a:r>
              <a:rPr lang="en-US" sz="3200" b="1" i="0" dirty="0">
                <a:solidFill>
                  <a:srgbClr val="273239"/>
                </a:solidFill>
                <a:effectLst/>
                <a:latin typeface="Nunito" pitchFamily="2" charset="0"/>
              </a:rPr>
              <a:t>Supercomputers:</a:t>
            </a:r>
            <a:r>
              <a:rPr lang="en-US" sz="3200" b="0" i="0" dirty="0">
                <a:solidFill>
                  <a:srgbClr val="273239"/>
                </a:solidFill>
                <a:effectLst/>
                <a:latin typeface="Nunito" pitchFamily="2" charset="0"/>
              </a:rPr>
              <a:t> These are extremely powerful computers that help in carrying out complex calculations. They aren't meant for personal use and are often used for research purposes.</a:t>
            </a:r>
          </a:p>
          <a:p>
            <a:pPr marL="0" indent="0">
              <a:buNone/>
            </a:pPr>
            <a:r>
              <a:rPr lang="en-US" sz="3200" b="1" dirty="0">
                <a:effectLst/>
              </a:rPr>
              <a:t>Applications:</a:t>
            </a:r>
            <a:endParaRPr lang="en-US" sz="3200" dirty="0"/>
          </a:p>
          <a:p>
            <a:pPr>
              <a:buFont typeface="Arial" panose="020B0604020202020204" pitchFamily="34" charset="0"/>
              <a:buChar char="•"/>
            </a:pPr>
            <a:r>
              <a:rPr lang="en-US" sz="3200" dirty="0">
                <a:effectLst/>
              </a:rPr>
              <a:t>Weather forecasting and climate modeling.</a:t>
            </a:r>
            <a:endParaRPr lang="en-US" sz="3200" dirty="0"/>
          </a:p>
          <a:p>
            <a:pPr>
              <a:buFont typeface="Arial" panose="020B0604020202020204" pitchFamily="34" charset="0"/>
              <a:buChar char="•"/>
            </a:pPr>
            <a:r>
              <a:rPr lang="en-US" sz="3200" dirty="0">
                <a:effectLst/>
              </a:rPr>
              <a:t>Nuclear simulations and aerospace research.</a:t>
            </a:r>
            <a:endParaRPr lang="en-US" sz="3200" dirty="0"/>
          </a:p>
          <a:p>
            <a:pPr marL="0" indent="0">
              <a:buNone/>
            </a:pPr>
            <a:endParaRPr lang="en-US" b="0" i="0" dirty="0">
              <a:solidFill>
                <a:srgbClr val="273239"/>
              </a:solidFill>
              <a:effectLst/>
              <a:latin typeface="Nunito" pitchFamily="2" charset="0"/>
            </a:endParaRPr>
          </a:p>
          <a:p>
            <a:pPr marL="0" indent="0">
              <a:buNone/>
            </a:pPr>
            <a:endParaRPr lang="en-US" dirty="0"/>
          </a:p>
        </p:txBody>
      </p:sp>
    </p:spTree>
    <p:extLst>
      <p:ext uri="{BB962C8B-B14F-4D97-AF65-F5344CB8AC3E}">
        <p14:creationId xmlns:p14="http://schemas.microsoft.com/office/powerpoint/2010/main" val="13018046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718215-E147-4E37-A594-2F08FEBDD95A}"/>
              </a:ext>
            </a:extLst>
          </p:cNvPr>
          <p:cNvSpPr>
            <a:spLocks noGrp="1"/>
          </p:cNvSpPr>
          <p:nvPr>
            <p:ph idx="1"/>
          </p:nvPr>
        </p:nvSpPr>
        <p:spPr>
          <a:xfrm>
            <a:off x="838200" y="437322"/>
            <a:ext cx="10515600" cy="5739641"/>
          </a:xfrm>
        </p:spPr>
        <p:txBody>
          <a:bodyPr/>
          <a:lstStyle/>
          <a:p>
            <a:pPr marL="0" indent="0">
              <a:buNone/>
            </a:pPr>
            <a:r>
              <a:rPr lang="en-US" b="1" i="0" dirty="0">
                <a:solidFill>
                  <a:srgbClr val="273239"/>
                </a:solidFill>
                <a:effectLst/>
                <a:latin typeface="Nunito" pitchFamily="2" charset="0"/>
              </a:rPr>
              <a:t>Mainframe computers: </a:t>
            </a:r>
            <a:r>
              <a:rPr lang="en-US" b="0" i="0" dirty="0">
                <a:solidFill>
                  <a:srgbClr val="273239"/>
                </a:solidFill>
                <a:effectLst/>
                <a:latin typeface="Nunito" pitchFamily="2" charset="0"/>
              </a:rPr>
              <a:t>These are used by large organizations. They help in the processing of bulk data.</a:t>
            </a:r>
          </a:p>
          <a:p>
            <a:pPr marL="0" indent="0">
              <a:buNone/>
            </a:pPr>
            <a:r>
              <a:rPr lang="en-US" b="1" dirty="0">
                <a:effectLst/>
              </a:rPr>
              <a:t>Applications:</a:t>
            </a:r>
            <a:endParaRPr lang="en-US" dirty="0"/>
          </a:p>
          <a:p>
            <a:pPr>
              <a:buFont typeface="Arial" panose="020B0604020202020204" pitchFamily="34" charset="0"/>
              <a:buChar char="•"/>
            </a:pPr>
            <a:r>
              <a:rPr lang="en-US" dirty="0">
                <a:effectLst/>
              </a:rPr>
              <a:t>Banking systems (transaction processing).</a:t>
            </a:r>
            <a:endParaRPr lang="en-US" dirty="0"/>
          </a:p>
          <a:p>
            <a:pPr>
              <a:buFont typeface="Arial" panose="020B0604020202020204" pitchFamily="34" charset="0"/>
              <a:buChar char="•"/>
            </a:pPr>
            <a:r>
              <a:rPr lang="en-US" dirty="0">
                <a:effectLst/>
              </a:rPr>
              <a:t>Airline reservation systems.</a:t>
            </a:r>
            <a:endParaRPr lang="en-US" dirty="0"/>
          </a:p>
          <a:p>
            <a:pPr>
              <a:buFont typeface="Arial" panose="020B0604020202020204" pitchFamily="34" charset="0"/>
              <a:buChar char="•"/>
            </a:pPr>
            <a:r>
              <a:rPr lang="en-US" dirty="0">
                <a:effectLst/>
              </a:rPr>
              <a:t>Government census and taxation.</a:t>
            </a:r>
          </a:p>
          <a:p>
            <a:pPr marL="0" indent="0">
              <a:buNone/>
            </a:pPr>
            <a:endParaRPr lang="en-US" dirty="0"/>
          </a:p>
          <a:p>
            <a:pPr marL="0" indent="0">
              <a:buNone/>
            </a:pPr>
            <a:endParaRPr lang="en-US" dirty="0"/>
          </a:p>
        </p:txBody>
      </p:sp>
      <p:pic>
        <p:nvPicPr>
          <p:cNvPr id="6" name="Picture 5">
            <a:extLst>
              <a:ext uri="{FF2B5EF4-FFF2-40B4-BE49-F238E27FC236}">
                <a16:creationId xmlns:a16="http://schemas.microsoft.com/office/drawing/2014/main" id="{323B0360-8B5A-48E2-BF7E-0272BB573CDC}"/>
              </a:ext>
            </a:extLst>
          </p:cNvPr>
          <p:cNvPicPr>
            <a:picLocks noChangeAspect="1"/>
          </p:cNvPicPr>
          <p:nvPr/>
        </p:nvPicPr>
        <p:blipFill>
          <a:blip r:embed="rId2"/>
          <a:stretch>
            <a:fillRect/>
          </a:stretch>
        </p:blipFill>
        <p:spPr>
          <a:xfrm>
            <a:off x="6096000" y="2607491"/>
            <a:ext cx="6096000" cy="4134427"/>
          </a:xfrm>
          <a:prstGeom prst="rect">
            <a:avLst/>
          </a:prstGeom>
        </p:spPr>
      </p:pic>
    </p:spTree>
    <p:extLst>
      <p:ext uri="{BB962C8B-B14F-4D97-AF65-F5344CB8AC3E}">
        <p14:creationId xmlns:p14="http://schemas.microsoft.com/office/powerpoint/2010/main" val="21127467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FEC3ED-2C74-4F35-8C60-C0B73E6DDA8E}"/>
              </a:ext>
            </a:extLst>
          </p:cNvPr>
          <p:cNvSpPr>
            <a:spLocks noGrp="1"/>
          </p:cNvSpPr>
          <p:nvPr>
            <p:ph idx="1"/>
          </p:nvPr>
        </p:nvSpPr>
        <p:spPr>
          <a:xfrm>
            <a:off x="838200" y="463826"/>
            <a:ext cx="10515600" cy="5713137"/>
          </a:xfrm>
        </p:spPr>
        <p:txBody>
          <a:bodyPr/>
          <a:lstStyle/>
          <a:p>
            <a:pPr marL="0" indent="0">
              <a:buNone/>
            </a:pPr>
            <a:r>
              <a:rPr lang="en-US" b="1" dirty="0"/>
              <a:t>Minicomputers</a:t>
            </a:r>
          </a:p>
          <a:p>
            <a:pPr marL="0" indent="0">
              <a:buNone/>
            </a:pPr>
            <a:r>
              <a:rPr lang="en-US" b="1" dirty="0">
                <a:effectLst/>
              </a:rPr>
              <a:t>Definition:</a:t>
            </a:r>
            <a:r>
              <a:rPr lang="en-US" dirty="0">
                <a:effectLst/>
              </a:rPr>
              <a:t> Mid-sized computers, smaller than mainframes but larger than personal computers.</a:t>
            </a:r>
            <a:endParaRPr lang="en-US" dirty="0"/>
          </a:p>
          <a:p>
            <a:pPr marL="0" indent="0">
              <a:buNone/>
            </a:pPr>
            <a:r>
              <a:rPr lang="en-US" b="1" dirty="0">
                <a:effectLst/>
              </a:rPr>
              <a:t>Applications:</a:t>
            </a:r>
            <a:endParaRPr lang="en-US" dirty="0"/>
          </a:p>
          <a:p>
            <a:pPr marL="742950" lvl="1" indent="-285750">
              <a:buFont typeface="Arial" panose="020B0604020202020204" pitchFamily="34" charset="0"/>
              <a:buChar char="•"/>
            </a:pPr>
            <a:r>
              <a:rPr lang="en-US" dirty="0">
                <a:effectLst/>
              </a:rPr>
              <a:t>Manufacturing process control.</a:t>
            </a:r>
            <a:endParaRPr lang="en-US" dirty="0"/>
          </a:p>
          <a:p>
            <a:pPr marL="742950" lvl="1" indent="-285750">
              <a:buFont typeface="Arial" panose="020B0604020202020204" pitchFamily="34" charset="0"/>
              <a:buChar char="•"/>
            </a:pPr>
            <a:r>
              <a:rPr lang="en-US" dirty="0">
                <a:effectLst/>
              </a:rPr>
              <a:t>Small to medium business data management.</a:t>
            </a:r>
            <a:endParaRPr lang="en-US" dirty="0"/>
          </a:p>
          <a:p>
            <a:pPr marL="0" indent="0">
              <a:buNone/>
            </a:pPr>
            <a:endParaRPr lang="en-US" dirty="0"/>
          </a:p>
        </p:txBody>
      </p:sp>
      <p:pic>
        <p:nvPicPr>
          <p:cNvPr id="6" name="Picture 5">
            <a:extLst>
              <a:ext uri="{FF2B5EF4-FFF2-40B4-BE49-F238E27FC236}">
                <a16:creationId xmlns:a16="http://schemas.microsoft.com/office/drawing/2014/main" id="{428CDFCA-54A8-49BA-A5A0-C62B1B437647}"/>
              </a:ext>
            </a:extLst>
          </p:cNvPr>
          <p:cNvPicPr>
            <a:picLocks noChangeAspect="1"/>
          </p:cNvPicPr>
          <p:nvPr/>
        </p:nvPicPr>
        <p:blipFill>
          <a:blip r:embed="rId2"/>
          <a:stretch>
            <a:fillRect/>
          </a:stretch>
        </p:blipFill>
        <p:spPr>
          <a:xfrm>
            <a:off x="1696279" y="3320394"/>
            <a:ext cx="7619999" cy="3429096"/>
          </a:xfrm>
          <a:prstGeom prst="rect">
            <a:avLst/>
          </a:prstGeom>
        </p:spPr>
      </p:pic>
    </p:spTree>
    <p:extLst>
      <p:ext uri="{BB962C8B-B14F-4D97-AF65-F5344CB8AC3E}">
        <p14:creationId xmlns:p14="http://schemas.microsoft.com/office/powerpoint/2010/main" val="29497584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3F5886-DA36-4DE8-B76A-01A491360722}"/>
              </a:ext>
            </a:extLst>
          </p:cNvPr>
          <p:cNvSpPr>
            <a:spLocks noGrp="1"/>
          </p:cNvSpPr>
          <p:nvPr>
            <p:ph idx="1"/>
          </p:nvPr>
        </p:nvSpPr>
        <p:spPr>
          <a:xfrm>
            <a:off x="838200" y="636104"/>
            <a:ext cx="10515600" cy="5540859"/>
          </a:xfrm>
        </p:spPr>
        <p:txBody>
          <a:bodyPr/>
          <a:lstStyle/>
          <a:p>
            <a:pPr marL="0" indent="0">
              <a:buNone/>
            </a:pPr>
            <a:r>
              <a:rPr lang="en-US" b="1" i="0" dirty="0">
                <a:solidFill>
                  <a:srgbClr val="273239"/>
                </a:solidFill>
                <a:effectLst/>
                <a:latin typeface="Nunito" pitchFamily="2" charset="0"/>
              </a:rPr>
              <a:t>Microcomputers: </a:t>
            </a:r>
            <a:r>
              <a:rPr lang="en-US" b="0" i="0" dirty="0">
                <a:solidFill>
                  <a:srgbClr val="273239"/>
                </a:solidFill>
                <a:effectLst/>
                <a:latin typeface="Nunito" pitchFamily="2" charset="0"/>
              </a:rPr>
              <a:t>These are designed for individual use. They are small, compact systems, such as smartphones and desktop computers.</a:t>
            </a:r>
          </a:p>
          <a:p>
            <a:pPr marL="0" indent="0">
              <a:buNone/>
            </a:pPr>
            <a:endParaRPr lang="en-US" b="0" i="0" dirty="0">
              <a:solidFill>
                <a:srgbClr val="273239"/>
              </a:solidFill>
              <a:effectLst/>
              <a:latin typeface="Nunito" pitchFamily="2" charset="0"/>
            </a:endParaRPr>
          </a:p>
          <a:p>
            <a:pPr marL="0" indent="0">
              <a:buNone/>
            </a:pPr>
            <a:endParaRPr lang="en-US" dirty="0"/>
          </a:p>
        </p:txBody>
      </p:sp>
      <p:pic>
        <p:nvPicPr>
          <p:cNvPr id="5" name="Picture 4">
            <a:extLst>
              <a:ext uri="{FF2B5EF4-FFF2-40B4-BE49-F238E27FC236}">
                <a16:creationId xmlns:a16="http://schemas.microsoft.com/office/drawing/2014/main" id="{78D9A83A-AAD5-4ECB-89FA-F75A2D2329BC}"/>
              </a:ext>
            </a:extLst>
          </p:cNvPr>
          <p:cNvPicPr>
            <a:picLocks noChangeAspect="1"/>
          </p:cNvPicPr>
          <p:nvPr/>
        </p:nvPicPr>
        <p:blipFill>
          <a:blip r:embed="rId2"/>
          <a:stretch>
            <a:fillRect/>
          </a:stretch>
        </p:blipFill>
        <p:spPr>
          <a:xfrm>
            <a:off x="838200" y="2375535"/>
            <a:ext cx="10515600" cy="3629149"/>
          </a:xfrm>
          <a:prstGeom prst="rect">
            <a:avLst/>
          </a:prstGeom>
        </p:spPr>
      </p:pic>
    </p:spTree>
    <p:extLst>
      <p:ext uri="{BB962C8B-B14F-4D97-AF65-F5344CB8AC3E}">
        <p14:creationId xmlns:p14="http://schemas.microsoft.com/office/powerpoint/2010/main" val="21731427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EC2FD-7EB4-47B7-A734-3015D8B12BAC}"/>
              </a:ext>
            </a:extLst>
          </p:cNvPr>
          <p:cNvSpPr>
            <a:spLocks noGrp="1"/>
          </p:cNvSpPr>
          <p:nvPr>
            <p:ph type="title"/>
          </p:nvPr>
        </p:nvSpPr>
        <p:spPr>
          <a:xfrm>
            <a:off x="838199" y="365125"/>
            <a:ext cx="10995991" cy="1185379"/>
          </a:xfrm>
        </p:spPr>
        <p:txBody>
          <a:bodyPr>
            <a:normAutofit fontScale="90000"/>
          </a:bodyPr>
          <a:lstStyle/>
          <a:p>
            <a:r>
              <a:rPr lang="en-US" b="1" i="0" dirty="0">
                <a:solidFill>
                  <a:srgbClr val="273239"/>
                </a:solidFill>
                <a:effectLst/>
                <a:latin typeface="Nunito" pitchFamily="2" charset="0"/>
              </a:rPr>
              <a:t>Classification of Computers (Based on Processing Power)</a:t>
            </a:r>
            <a:br>
              <a:rPr lang="en-US" b="1" i="0" dirty="0">
                <a:solidFill>
                  <a:srgbClr val="273239"/>
                </a:solidFill>
                <a:effectLst/>
                <a:latin typeface="Nunito" pitchFamily="2" charset="0"/>
              </a:rPr>
            </a:br>
            <a:endParaRPr lang="en-US" dirty="0"/>
          </a:p>
        </p:txBody>
      </p:sp>
      <p:sp>
        <p:nvSpPr>
          <p:cNvPr id="3" name="Content Placeholder 2">
            <a:extLst>
              <a:ext uri="{FF2B5EF4-FFF2-40B4-BE49-F238E27FC236}">
                <a16:creationId xmlns:a16="http://schemas.microsoft.com/office/drawing/2014/main" id="{CD7F8E5E-BBB0-47AE-9559-56D335964323}"/>
              </a:ext>
            </a:extLst>
          </p:cNvPr>
          <p:cNvSpPr>
            <a:spLocks noGrp="1"/>
          </p:cNvSpPr>
          <p:nvPr>
            <p:ph idx="1"/>
          </p:nvPr>
        </p:nvSpPr>
        <p:spPr>
          <a:xfrm>
            <a:off x="838200" y="1391478"/>
            <a:ext cx="10515600" cy="4785485"/>
          </a:xfrm>
        </p:spPr>
        <p:txBody>
          <a:bodyPr/>
          <a:lstStyle/>
          <a:p>
            <a:pPr algn="l" fontAlgn="base">
              <a:buFont typeface="Arial" panose="020B0604020202020204" pitchFamily="34" charset="0"/>
              <a:buChar char="•"/>
            </a:pPr>
            <a:r>
              <a:rPr lang="en-US" sz="3200" b="1" i="0" dirty="0">
                <a:solidFill>
                  <a:srgbClr val="273239"/>
                </a:solidFill>
                <a:effectLst/>
                <a:latin typeface="Nunito" pitchFamily="2" charset="0"/>
              </a:rPr>
              <a:t>Embedded systems:</a:t>
            </a:r>
            <a:r>
              <a:rPr lang="en-US" sz="3200" b="0" i="0" dirty="0">
                <a:solidFill>
                  <a:srgbClr val="273239"/>
                </a:solidFill>
                <a:effectLst/>
                <a:latin typeface="Nunito" pitchFamily="2" charset="0"/>
              </a:rPr>
              <a:t> Embedded systems are small computers that are built into other devices, such as appliances, cars, and medical devices. They are designed to perform specific functions and operate without human intervention.</a:t>
            </a:r>
          </a:p>
          <a:p>
            <a:pPr algn="l" fontAlgn="base">
              <a:buFont typeface="Arial" panose="020B0604020202020204" pitchFamily="34" charset="0"/>
              <a:buChar char="•"/>
            </a:pPr>
            <a:endParaRPr lang="en-US" sz="3200" b="0" i="0" dirty="0">
              <a:solidFill>
                <a:srgbClr val="273239"/>
              </a:solidFill>
              <a:effectLst/>
              <a:latin typeface="Nunito" pitchFamily="2" charset="0"/>
            </a:endParaRPr>
          </a:p>
          <a:p>
            <a:endParaRPr lang="en-US" dirty="0"/>
          </a:p>
        </p:txBody>
      </p:sp>
      <p:pic>
        <p:nvPicPr>
          <p:cNvPr id="5" name="Picture 4">
            <a:extLst>
              <a:ext uri="{FF2B5EF4-FFF2-40B4-BE49-F238E27FC236}">
                <a16:creationId xmlns:a16="http://schemas.microsoft.com/office/drawing/2014/main" id="{01BA32CD-570E-4E76-8EFD-54766FAE6AA0}"/>
              </a:ext>
            </a:extLst>
          </p:cNvPr>
          <p:cNvPicPr>
            <a:picLocks noChangeAspect="1"/>
          </p:cNvPicPr>
          <p:nvPr/>
        </p:nvPicPr>
        <p:blipFill>
          <a:blip r:embed="rId2"/>
          <a:stretch>
            <a:fillRect/>
          </a:stretch>
        </p:blipFill>
        <p:spPr>
          <a:xfrm>
            <a:off x="409084" y="3784220"/>
            <a:ext cx="6491747" cy="2627611"/>
          </a:xfrm>
          <a:prstGeom prst="rect">
            <a:avLst/>
          </a:prstGeom>
        </p:spPr>
      </p:pic>
      <p:pic>
        <p:nvPicPr>
          <p:cNvPr id="7" name="Picture 6">
            <a:extLst>
              <a:ext uri="{FF2B5EF4-FFF2-40B4-BE49-F238E27FC236}">
                <a16:creationId xmlns:a16="http://schemas.microsoft.com/office/drawing/2014/main" id="{44EF7516-EDD9-422D-ABFE-4138A3EB7934}"/>
              </a:ext>
            </a:extLst>
          </p:cNvPr>
          <p:cNvPicPr>
            <a:picLocks noChangeAspect="1"/>
          </p:cNvPicPr>
          <p:nvPr/>
        </p:nvPicPr>
        <p:blipFill>
          <a:blip r:embed="rId3"/>
          <a:stretch>
            <a:fillRect/>
          </a:stretch>
        </p:blipFill>
        <p:spPr>
          <a:xfrm>
            <a:off x="6336194" y="3073780"/>
            <a:ext cx="5687219" cy="3605315"/>
          </a:xfrm>
          <a:prstGeom prst="rect">
            <a:avLst/>
          </a:prstGeom>
        </p:spPr>
      </p:pic>
    </p:spTree>
    <p:extLst>
      <p:ext uri="{BB962C8B-B14F-4D97-AF65-F5344CB8AC3E}">
        <p14:creationId xmlns:p14="http://schemas.microsoft.com/office/powerpoint/2010/main" val="383369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2C5720-8D48-4FFC-89E8-74D1DA0F1BBF}"/>
              </a:ext>
            </a:extLst>
          </p:cNvPr>
          <p:cNvSpPr>
            <a:spLocks noGrp="1"/>
          </p:cNvSpPr>
          <p:nvPr>
            <p:ph idx="1"/>
          </p:nvPr>
        </p:nvSpPr>
        <p:spPr>
          <a:xfrm>
            <a:off x="838200" y="490330"/>
            <a:ext cx="10515600" cy="5686633"/>
          </a:xfrm>
        </p:spPr>
        <p:txBody>
          <a:bodyPr/>
          <a:lstStyle/>
          <a:p>
            <a:r>
              <a:rPr lang="en-US" sz="2800" b="1" i="0" dirty="0">
                <a:solidFill>
                  <a:srgbClr val="273239"/>
                </a:solidFill>
                <a:effectLst/>
                <a:latin typeface="Nunito" pitchFamily="2" charset="0"/>
              </a:rPr>
              <a:t>Wearable computers:</a:t>
            </a:r>
            <a:r>
              <a:rPr lang="en-US" sz="2800" b="0" i="0" dirty="0">
                <a:solidFill>
                  <a:srgbClr val="273239"/>
                </a:solidFill>
                <a:effectLst/>
                <a:latin typeface="Nunito" pitchFamily="2" charset="0"/>
              </a:rPr>
              <a:t> Wearable computers are small, portable devices that are worn on the body, such as smartwatches or fitness trackers. They are designed to track data and provide information on the go.</a:t>
            </a:r>
          </a:p>
          <a:p>
            <a:pPr marL="0" indent="0">
              <a:buNone/>
            </a:pPr>
            <a:endParaRPr lang="en-US" sz="2800" b="0" i="0" dirty="0">
              <a:solidFill>
                <a:srgbClr val="273239"/>
              </a:solidFill>
              <a:effectLst/>
              <a:latin typeface="Nunito" pitchFamily="2" charset="0"/>
            </a:endParaRPr>
          </a:p>
          <a:p>
            <a:endParaRPr lang="en-US" dirty="0"/>
          </a:p>
        </p:txBody>
      </p:sp>
      <p:pic>
        <p:nvPicPr>
          <p:cNvPr id="5" name="Picture 4">
            <a:extLst>
              <a:ext uri="{FF2B5EF4-FFF2-40B4-BE49-F238E27FC236}">
                <a16:creationId xmlns:a16="http://schemas.microsoft.com/office/drawing/2014/main" id="{12A39D80-323A-4C32-9343-B6936DBD39F1}"/>
              </a:ext>
            </a:extLst>
          </p:cNvPr>
          <p:cNvPicPr>
            <a:picLocks noChangeAspect="1"/>
          </p:cNvPicPr>
          <p:nvPr/>
        </p:nvPicPr>
        <p:blipFill>
          <a:blip r:embed="rId2"/>
          <a:stretch>
            <a:fillRect/>
          </a:stretch>
        </p:blipFill>
        <p:spPr>
          <a:xfrm>
            <a:off x="2709030" y="2285660"/>
            <a:ext cx="6249439" cy="3955342"/>
          </a:xfrm>
          <a:prstGeom prst="rect">
            <a:avLst/>
          </a:prstGeom>
        </p:spPr>
      </p:pic>
    </p:spTree>
    <p:extLst>
      <p:ext uri="{BB962C8B-B14F-4D97-AF65-F5344CB8AC3E}">
        <p14:creationId xmlns:p14="http://schemas.microsoft.com/office/powerpoint/2010/main" val="30193153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91</TotalTime>
  <Words>1696</Words>
  <Application>Microsoft Office PowerPoint</Application>
  <PresentationFormat>Widescreen</PresentationFormat>
  <Paragraphs>153</Paragraphs>
  <Slides>34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Calibri</vt:lpstr>
      <vt:lpstr>Calibri Light</vt:lpstr>
      <vt:lpstr>Nunito</vt:lpstr>
      <vt:lpstr>Source Sans 3</vt:lpstr>
      <vt:lpstr>Office Theme</vt:lpstr>
      <vt:lpstr>Introduction to Computing</vt:lpstr>
      <vt:lpstr>Computing</vt:lpstr>
      <vt:lpstr>History of Computers</vt:lpstr>
      <vt:lpstr> Abacus (3000 BC) — first arithmetic tool. </vt:lpstr>
      <vt:lpstr>Pascaline (1642) — mechanical calculator by Blaise Pascal. </vt:lpstr>
      <vt:lpstr>Analytical Engine (1837) — Charles Babbage’s design, with Ada Lovelace writing the first algorithm. </vt:lpstr>
      <vt:lpstr>PowerPoint Presentation</vt:lpstr>
      <vt:lpstr>Generations of Computers</vt:lpstr>
      <vt:lpstr>The Software Development Profession</vt:lpstr>
      <vt:lpstr>What Developers Do?</vt:lpstr>
      <vt:lpstr>PowerPoint Presentation</vt:lpstr>
      <vt:lpstr>The 7 Stages of Software Product Development</vt:lpstr>
      <vt:lpstr>PowerPoint Presentation</vt:lpstr>
      <vt:lpstr>PowerPoint Presentation</vt:lpstr>
      <vt:lpstr>PowerPoint Presentation</vt:lpstr>
      <vt:lpstr>PowerPoint Presentation</vt:lpstr>
      <vt:lpstr>IT Professions in Software Development Stages</vt:lpstr>
      <vt:lpstr>PowerPoint Presentation</vt:lpstr>
      <vt:lpstr>PowerPoint Presentation</vt:lpstr>
      <vt:lpstr>PowerPoint Presentation</vt:lpstr>
      <vt:lpstr>PowerPoint Presentation</vt:lpstr>
      <vt:lpstr>Types of computers and their applications</vt:lpstr>
      <vt:lpstr> Introduction </vt:lpstr>
      <vt:lpstr>Types of Computers </vt:lpstr>
      <vt:lpstr>PowerPoint Presentation</vt:lpstr>
      <vt:lpstr>PowerPoint Presentation</vt:lpstr>
      <vt:lpstr>PowerPoint Presentation</vt:lpstr>
      <vt:lpstr>PowerPoint Presentation</vt:lpstr>
      <vt:lpstr>Classification of Computers (Based on size) </vt:lpstr>
      <vt:lpstr>PowerPoint Presentation</vt:lpstr>
      <vt:lpstr>PowerPoint Presentation</vt:lpstr>
      <vt:lpstr>PowerPoint Presentation</vt:lpstr>
      <vt:lpstr>Classification of Computers (Based on Processing Power)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Computing</dc:title>
  <dc:creator>ELLEN</dc:creator>
  <cp:lastModifiedBy>ELLEN</cp:lastModifiedBy>
  <cp:revision>11</cp:revision>
  <dcterms:created xsi:type="dcterms:W3CDTF">2026-06-17T02:34:46Z</dcterms:created>
  <dcterms:modified xsi:type="dcterms:W3CDTF">2026-06-17T04:06:23Z</dcterms:modified>
</cp:coreProperties>
</file>